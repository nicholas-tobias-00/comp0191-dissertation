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5" r:id="rId1"/>
    <p:sldMasterId id="2147483760" r:id="rId2"/>
  </p:sldMasterIdLst>
  <p:notesMasterIdLst>
    <p:notesMasterId r:id="rId19"/>
  </p:notesMasterIdLst>
  <p:handoutMasterIdLst>
    <p:handoutMasterId r:id="rId20"/>
  </p:handoutMasterIdLst>
  <p:sldIdLst>
    <p:sldId id="300" r:id="rId3"/>
    <p:sldId id="340" r:id="rId4"/>
    <p:sldId id="343" r:id="rId5"/>
    <p:sldId id="344" r:id="rId6"/>
    <p:sldId id="341" r:id="rId7"/>
    <p:sldId id="342" r:id="rId8"/>
    <p:sldId id="335" r:id="rId9"/>
    <p:sldId id="332" r:id="rId10"/>
    <p:sldId id="333" r:id="rId11"/>
    <p:sldId id="285" r:id="rId12"/>
    <p:sldId id="327" r:id="rId13"/>
    <p:sldId id="338" r:id="rId14"/>
    <p:sldId id="339" r:id="rId15"/>
    <p:sldId id="334" r:id="rId16"/>
    <p:sldId id="336" r:id="rId17"/>
    <p:sldId id="337" r:id="rId18"/>
  </p:sldIdLst>
  <p:sldSz cx="12192000" cy="6858000"/>
  <p:notesSz cx="6858000" cy="9144000"/>
  <p:embeddedFontLst>
    <p:embeddedFont>
      <p:font typeface="UCL Sans" pitchFamily="2" charset="77"/>
      <p:regular r:id="rId21"/>
      <p:bold r:id="rId22"/>
      <p:italic r:id="rId23"/>
    </p:embeddedFont>
    <p:embeddedFont>
      <p:font typeface="UCL Sans SemiBold" pitchFamily="2" charset="77"/>
      <p:regular r:id="rId24"/>
      <p:bold r:id="rId25"/>
      <p:italic r:id="rId26"/>
      <p:boldItalic r:id="rId27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CL Slides" id="{64BE57D8-B9E0-4D48-BBC7-659295F1B008}">
          <p14:sldIdLst>
            <p14:sldId id="300"/>
            <p14:sldId id="340"/>
            <p14:sldId id="343"/>
            <p14:sldId id="344"/>
            <p14:sldId id="341"/>
            <p14:sldId id="342"/>
          </p14:sldIdLst>
        </p14:section>
        <p14:section name="Previous Meet" id="{65E697A8-E126-3A44-A761-7CD03A6BF167}">
          <p14:sldIdLst>
            <p14:sldId id="335"/>
            <p14:sldId id="332"/>
            <p14:sldId id="333"/>
            <p14:sldId id="285"/>
            <p14:sldId id="327"/>
            <p14:sldId id="338"/>
            <p14:sldId id="339"/>
            <p14:sldId id="334"/>
            <p14:sldId id="336"/>
            <p14:sldId id="33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357D"/>
    <a:srgbClr val="6A1918"/>
    <a:srgbClr val="B982FF"/>
    <a:srgbClr val="F6EFFD"/>
    <a:srgbClr val="F5EFFC"/>
    <a:srgbClr val="EEDEFF"/>
    <a:srgbClr val="002EA6"/>
    <a:srgbClr val="005D5B"/>
    <a:srgbClr val="9E1953"/>
    <a:srgbClr val="005E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83"/>
    <p:restoredTop sz="87151"/>
  </p:normalViewPr>
  <p:slideViewPr>
    <p:cSldViewPr>
      <p:cViewPr>
        <p:scale>
          <a:sx n="122" d="100"/>
          <a:sy n="122" d="100"/>
        </p:scale>
        <p:origin x="544" y="4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14" d="100"/>
        <a:sy n="114" d="100"/>
      </p:scale>
      <p:origin x="0" y="0"/>
    </p:cViewPr>
  </p:notesTextViewPr>
  <p:notesViewPr>
    <p:cSldViewPr>
      <p:cViewPr varScale="1">
        <p:scale>
          <a:sx n="146" d="100"/>
          <a:sy n="146" d="100"/>
        </p:scale>
        <p:origin x="414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E67AAA-7040-8B0B-8122-DDA10601D6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447D23-0C3D-D7C0-6667-B2C6AA1EE4B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1D93C3-F286-9C4B-98EC-FBB7F0C69BB5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20A97E-0F68-A874-C9FD-80673D508B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BACC15-A2E2-9CD3-5B2C-9BBABA6B42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A0B70-CCF2-4444-BE01-B320D9CE5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16721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08A70A-88C5-8F48-B495-07492CFAC4E8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BC158-BB56-D04E-8DE4-3CEB78651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9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1C374-C70F-E620-424B-1314E0184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5A6382-5969-12D1-380B-2E7E49DD4E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8E02FB-9EEB-C072-3EC9-7C760FE7B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B68DA-B4E8-EA00-6646-AE3D940A74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359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93508-410A-E795-014A-6AD394CD7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53BEB-289C-18D9-60D1-DC4A9D07F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88B27-1C59-794F-CB57-B180E1E9E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dirty="0"/>
              <a:t>Zhu, S., McCalmont, J., Cardenas, L. M., Cunliffe, A. M., Olde, L., </a:t>
            </a:r>
            <a:r>
              <a:rPr lang="en-ID" dirty="0" err="1"/>
              <a:t>Signori</a:t>
            </a:r>
            <a:r>
              <a:rPr lang="en-ID" dirty="0"/>
              <a:t>-Müller, C., Litvak, M. E., &amp; Hill, T. (2023). Gap-filling carbon dioxide, water, energy, and methane fluxes in challenging ecosystems: Comparing between methods, drivers, and gap-lengths. </a:t>
            </a:r>
            <a:r>
              <a:rPr lang="en-ID" i="1" dirty="0"/>
              <a:t>Agricultural and Forest Meteorology</a:t>
            </a:r>
            <a:r>
              <a:rPr lang="en-ID" dirty="0"/>
              <a:t>, </a:t>
            </a:r>
            <a:r>
              <a:rPr lang="en-ID" i="1" dirty="0"/>
              <a:t>332</a:t>
            </a:r>
            <a:r>
              <a:rPr lang="en-ID" dirty="0"/>
              <a:t>. https://</a:t>
            </a:r>
            <a:r>
              <a:rPr lang="en-ID" dirty="0" err="1"/>
              <a:t>doi.org</a:t>
            </a:r>
            <a:r>
              <a:rPr lang="en-ID" dirty="0"/>
              <a:t>/10.1016/j.agrformet.2023.109365</a:t>
            </a:r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223B7-0441-8688-4E9B-48587F43DC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89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1A269-F662-F4AC-325B-F10D183EE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F536E2-A033-E8BE-C76C-4E81B66A0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3E8ED7-5C9A-2327-A6D3-3C7C2839E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dirty="0"/>
              <a:t>Zhu, S., McCalmont, J., Cardenas, L. M., Cunliffe, A. M., Olde, L., </a:t>
            </a:r>
            <a:r>
              <a:rPr lang="en-ID" dirty="0" err="1"/>
              <a:t>Signori</a:t>
            </a:r>
            <a:r>
              <a:rPr lang="en-ID" dirty="0"/>
              <a:t>-Müller, C., Litvak, M. E., &amp; Hill, T. (2023). Gap-filling carbon dioxide, water, energy, and methane fluxes in challenging ecosystems: Comparing between methods, drivers, and gap-lengths. </a:t>
            </a:r>
            <a:r>
              <a:rPr lang="en-ID" i="1" dirty="0"/>
              <a:t>Agricultural and Forest Meteorology</a:t>
            </a:r>
            <a:r>
              <a:rPr lang="en-ID" dirty="0"/>
              <a:t>, </a:t>
            </a:r>
            <a:r>
              <a:rPr lang="en-ID" i="1" dirty="0"/>
              <a:t>332</a:t>
            </a:r>
            <a:r>
              <a:rPr lang="en-ID" dirty="0"/>
              <a:t>. https://</a:t>
            </a:r>
            <a:r>
              <a:rPr lang="en-ID" dirty="0" err="1"/>
              <a:t>doi.org</a:t>
            </a:r>
            <a:r>
              <a:rPr lang="en-ID" dirty="0"/>
              <a:t>/10.1016/j.agrformet.2023.109365</a:t>
            </a:r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AAD5B-5D1E-2F7B-D81C-E5155E4BDE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938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1B010-47D6-C9E2-4D5B-DD9DEB460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165542-9464-7A30-ECF7-F9BDFFD728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6B965E-69D6-D522-646D-7123B45C4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Livestock Location</a:t>
            </a:r>
          </a:p>
          <a:p>
            <a:r>
              <a:rPr lang="en-ID" dirty="0"/>
              <a:t>Surveys &amp; Botanical Surveys will not be usable for forecasting</a:t>
            </a:r>
          </a:p>
          <a:p>
            <a:endParaRPr lang="en-ID" dirty="0"/>
          </a:p>
          <a:p>
            <a:r>
              <a:rPr lang="en-ID" dirty="0"/>
              <a:t>Uncertainty to be affected by missing components -- something to be considered</a:t>
            </a:r>
          </a:p>
          <a:p>
            <a:endParaRPr lang="en-ID" dirty="0"/>
          </a:p>
          <a:p>
            <a:r>
              <a:rPr lang="en-ID" dirty="0"/>
              <a:t>Consider soil moisture and vegetation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46E1C-D4AF-3B06-28F0-9ED6E80D35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314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8C7C7-E6AA-E1B3-001D-A5AD08821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8427E8-5913-8497-E593-94DDB5D03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CC9A5E-F073-3933-BC1A-D51AADC1E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dirty="0">
                <a:solidFill>
                  <a:schemeClr val="tx1"/>
                </a:solidFill>
                <a:highlight>
                  <a:srgbClr val="FFFF00"/>
                </a:highlight>
                <a:latin typeface="UCL Sans" pitchFamily="2" charset="77"/>
              </a:rPr>
              <a:t>EC will capture a richer, </a:t>
            </a:r>
            <a:r>
              <a:rPr lang="en-ID" sz="1200" u="sng" dirty="0">
                <a:solidFill>
                  <a:schemeClr val="tx1"/>
                </a:solidFill>
                <a:highlight>
                  <a:srgbClr val="FFFF00"/>
                </a:highlight>
                <a:latin typeface="UCL Sans" pitchFamily="2" charset="77"/>
              </a:rPr>
              <a:t>more holistic emissions signal over </a:t>
            </a:r>
            <a:r>
              <a:rPr lang="en-ID" sz="1200" b="1" kern="120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IPCC Tier 1 static emission factors</a:t>
            </a:r>
            <a:r>
              <a:rPr lang="en-ID" sz="1200" dirty="0">
                <a:solidFill>
                  <a:schemeClr val="tx1"/>
                </a:solidFill>
                <a:highlight>
                  <a:srgbClr val="FFFF00"/>
                </a:highlight>
                <a:latin typeface="UCL Sans" pitchFamily="2" charset="77"/>
              </a:rPr>
              <a:t>, improving model informativeness at farm scale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82414-842F-84A0-9635-116FF83752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438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78EFF-DDB3-24C9-90B9-2DA999824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1B880-2493-E8E0-53FE-9F7724A97D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FAECBA-83B8-5A06-E6B0-A1FEC2B20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>
                <a:solidFill>
                  <a:schemeClr val="tx1"/>
                </a:solidFill>
                <a:highlight>
                  <a:srgbClr val="FFFF00"/>
                </a:highlight>
                <a:latin typeface="UCL Sans" pitchFamily="2" charset="77"/>
              </a:rPr>
              <a:t>EC will capture a richer, </a:t>
            </a:r>
            <a:r>
              <a:rPr lang="en-ID" sz="1200" u="sng">
                <a:solidFill>
                  <a:schemeClr val="tx1"/>
                </a:solidFill>
                <a:highlight>
                  <a:srgbClr val="FFFF00"/>
                </a:highlight>
                <a:latin typeface="UCL Sans" pitchFamily="2" charset="77"/>
              </a:rPr>
              <a:t>more holistic emissions signal over </a:t>
            </a:r>
            <a:r>
              <a:rPr lang="en-ID" sz="1200" b="1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IPCC Tier 1 static emission factors</a:t>
            </a:r>
            <a:r>
              <a:rPr lang="en-ID" sz="1200">
                <a:solidFill>
                  <a:schemeClr val="tx1"/>
                </a:solidFill>
                <a:highlight>
                  <a:srgbClr val="FFFF00"/>
                </a:highlight>
                <a:latin typeface="UCL Sans" pitchFamily="2" charset="77"/>
              </a:rPr>
              <a:t>, improving model informativeness at farm scale</a:t>
            </a:r>
            <a:endParaRPr lang="en-ID" sz="1200" dirty="0">
              <a:solidFill>
                <a:schemeClr val="tx1"/>
              </a:solidFill>
              <a:highlight>
                <a:srgbClr val="FFFF00"/>
              </a:highlight>
              <a:latin typeface="UCL Sans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ADA8A-C4DC-A2E0-23F1-343A8CC1A5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118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C5AC2-7B3F-DFA0-20D6-DD198B5D9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6483E-D926-4BC0-41A5-013C16DD9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F57AC-FA8B-CC38-747A-36F32F239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dirty="0"/>
              <a:t>Zhu, S., McCalmont, J., Cardenas, L. M., Cunliffe, A. M., Olde, L., </a:t>
            </a:r>
            <a:r>
              <a:rPr lang="en-ID" dirty="0" err="1"/>
              <a:t>Signori</a:t>
            </a:r>
            <a:r>
              <a:rPr lang="en-ID" dirty="0"/>
              <a:t>-Müller, C., Litvak, M. E., &amp; Hill, T. (2023). Gap-filling carbon dioxide, water, energy, and methane fluxes in challenging ecosystems: Comparing between methods, drivers, and gap-lengths. </a:t>
            </a:r>
            <a:r>
              <a:rPr lang="en-ID" i="1" dirty="0"/>
              <a:t>Agricultural and Forest Meteorology</a:t>
            </a:r>
            <a:r>
              <a:rPr lang="en-ID" dirty="0"/>
              <a:t>, </a:t>
            </a:r>
            <a:r>
              <a:rPr lang="en-ID" i="1" dirty="0"/>
              <a:t>332</a:t>
            </a:r>
            <a:r>
              <a:rPr lang="en-ID" dirty="0"/>
              <a:t>. https://</a:t>
            </a:r>
            <a:r>
              <a:rPr lang="en-ID" dirty="0" err="1"/>
              <a:t>doi.org</a:t>
            </a:r>
            <a:r>
              <a:rPr lang="en-ID" dirty="0"/>
              <a:t>/10.1016/j.agrformet.2023.109365</a:t>
            </a:r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29BC4-00B5-8E3C-30FD-A0E43020FD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1323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D29AC-08B2-E34A-A0D4-4B7C5798E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31AE50-A243-C274-290B-837435DB4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92506D-FF82-CBEE-274F-FE0BD46B6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Data Preprocessing will take much longer</a:t>
            </a:r>
          </a:p>
          <a:p>
            <a:r>
              <a:rPr lang="en-ID" dirty="0"/>
              <a:t>Interface wouldn't matter much</a:t>
            </a:r>
          </a:p>
          <a:p>
            <a:r>
              <a:rPr lang="en-ID" dirty="0"/>
              <a:t>Feature Importance will be very quick.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D8FE8-916A-145D-EE54-C8DDC8084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200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714AD-6BF9-C038-89F4-18354233B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1B4D66-6F22-5C2C-A9F0-976C2C31B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F08547-A0C5-F65E-9DC2-55838FC7C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Forecasting Granularity to be hourly at the moment.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DBE59-83FD-5332-D099-D7B7F73EA3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958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590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CF7C2-C862-F274-7B4D-78B5200FE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3EDA41-5644-EFC1-102C-D12EABFE6B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698249-32E8-97E1-9DA4-FB7C69AD3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sz="1200" dirty="0">
              <a:solidFill>
                <a:schemeClr val="tx1"/>
              </a:solidFill>
              <a:highlight>
                <a:srgbClr val="FFFF00"/>
              </a:highlight>
              <a:latin typeface="UCL Sans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D8FE2-057F-AC75-9EC7-4083713029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5371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5E838-ECA6-D2BD-79EE-4439C715B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0392C-ACE3-FEB7-2A0F-D9AAD46582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0FC9CE-76A4-211F-7659-832A23C50E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sz="1200" dirty="0">
              <a:solidFill>
                <a:schemeClr val="tx1"/>
              </a:solidFill>
              <a:highlight>
                <a:srgbClr val="FFFF00"/>
              </a:highlight>
              <a:latin typeface="UCL Sans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DB703-9066-B981-DA4A-7E87510FD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13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CF806-4958-278A-17D0-A19065C87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C4FCD9-AD3A-C4CB-958B-B844455C81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117C99-7B99-6778-5F1C-F1783A19F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sz="1200" dirty="0">
              <a:solidFill>
                <a:schemeClr val="tx1"/>
              </a:solidFill>
              <a:highlight>
                <a:srgbClr val="FFFF00"/>
              </a:highlight>
              <a:latin typeface="UCL Sans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D9127-B17E-6BC0-CC1B-950248F3C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8132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4465A-9D7E-11D2-5319-8F2F78EE1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9820CD-2390-877E-DDE5-8332F8A08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62E76C-53EA-4BE3-C2C3-B4E84F62F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dirty="0">
                <a:solidFill>
                  <a:schemeClr val="tx1"/>
                </a:solidFill>
                <a:highlight>
                  <a:srgbClr val="FFFF00"/>
                </a:highlight>
                <a:latin typeface="UCL Sans" pitchFamily="2" charset="77"/>
              </a:rPr>
              <a:t>There might be a relationship between CO2 and CH4, imputing CO2 might be beneficial as well.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B1F1C-892E-92A1-9ED4-4DE67D3C8C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8289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D561D-4393-B841-EC26-CB9E372BA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00624-33D5-98B5-77AC-17A4C244F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E53664-0B82-0743-8BEE-3A2070929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>
                <a:solidFill>
                  <a:schemeClr val="tx1"/>
                </a:solidFill>
                <a:highlight>
                  <a:srgbClr val="FFFF00"/>
                </a:highlight>
                <a:latin typeface="UCL Sans" pitchFamily="2" charset="77"/>
              </a:rPr>
              <a:t>EC will capture a richer, </a:t>
            </a:r>
            <a:r>
              <a:rPr lang="en-ID" sz="1200" u="sng">
                <a:solidFill>
                  <a:schemeClr val="tx1"/>
                </a:solidFill>
                <a:highlight>
                  <a:srgbClr val="FFFF00"/>
                </a:highlight>
                <a:latin typeface="UCL Sans" pitchFamily="2" charset="77"/>
              </a:rPr>
              <a:t>more holistic emissions signal over </a:t>
            </a:r>
            <a:r>
              <a:rPr lang="en-ID" sz="1200" b="1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IPCC Tier 1 static emission factors</a:t>
            </a:r>
            <a:r>
              <a:rPr lang="en-ID" sz="1200">
                <a:solidFill>
                  <a:schemeClr val="tx1"/>
                </a:solidFill>
                <a:highlight>
                  <a:srgbClr val="FFFF00"/>
                </a:highlight>
                <a:latin typeface="UCL Sans" pitchFamily="2" charset="77"/>
              </a:rPr>
              <a:t>, improving model informativeness at farm scale</a:t>
            </a:r>
            <a:endParaRPr lang="en-ID" sz="1200" dirty="0">
              <a:solidFill>
                <a:schemeClr val="tx1"/>
              </a:solidFill>
              <a:highlight>
                <a:srgbClr val="FFFF00"/>
              </a:highlight>
              <a:latin typeface="UCL Sans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29C82-219C-DDC2-DBBF-19CB7E3E5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1976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58023-9E2A-E515-3074-784EDE889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DC441-BBC3-B9B2-F9AD-C47C746B6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9D84F4-8B90-1781-A65B-DF11520FE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>
                <a:solidFill>
                  <a:schemeClr val="tx1"/>
                </a:solidFill>
                <a:highlight>
                  <a:srgbClr val="FFFF00"/>
                </a:highlight>
                <a:latin typeface="UCL Sans" pitchFamily="2" charset="77"/>
              </a:rPr>
              <a:t>EC will capture a richer, </a:t>
            </a:r>
            <a:r>
              <a:rPr lang="en-ID" sz="1200" u="sng">
                <a:solidFill>
                  <a:schemeClr val="tx1"/>
                </a:solidFill>
                <a:highlight>
                  <a:srgbClr val="FFFF00"/>
                </a:highlight>
                <a:latin typeface="UCL Sans" pitchFamily="2" charset="77"/>
              </a:rPr>
              <a:t>more holistic emissions signal over </a:t>
            </a:r>
            <a:r>
              <a:rPr lang="en-ID" sz="1200" b="1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IPCC Tier 1 static emission factors</a:t>
            </a:r>
            <a:r>
              <a:rPr lang="en-ID" sz="1200">
                <a:solidFill>
                  <a:schemeClr val="tx1"/>
                </a:solidFill>
                <a:highlight>
                  <a:srgbClr val="FFFF00"/>
                </a:highlight>
                <a:latin typeface="UCL Sans" pitchFamily="2" charset="77"/>
              </a:rPr>
              <a:t>, improving model informativeness at farm scale</a:t>
            </a:r>
            <a:endParaRPr lang="en-ID" sz="1200" dirty="0">
              <a:solidFill>
                <a:schemeClr val="tx1"/>
              </a:solidFill>
              <a:highlight>
                <a:srgbClr val="FFFF00"/>
              </a:highlight>
              <a:latin typeface="UCL Sans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BF3D5-7568-7726-1105-827E328D44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893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Title  - 2/3 line heading an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03463" y="409575"/>
            <a:ext cx="7084422" cy="197467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42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Main Headline style slide UCL Sans </a:t>
            </a:r>
            <a:r>
              <a:rPr lang="en-GB" dirty="0" err="1"/>
              <a:t>SemiBold</a:t>
            </a:r>
            <a:r>
              <a:rPr lang="en-GB" dirty="0"/>
              <a:t> 42pt </a:t>
            </a:r>
            <a:br>
              <a:rPr lang="en-GB" dirty="0"/>
            </a:br>
            <a:r>
              <a:rPr lang="en-GB" dirty="0"/>
              <a:t>2-3 lines max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5E8DED6-3359-C8D7-EDF1-14AE135495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303463" y="4473756"/>
            <a:ext cx="6485967" cy="3613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Names of Presenters, UCL Sans Regular 24pt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3D562-9BC1-5B2A-B39F-74DAD6DF1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35413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1B036D7-E2F6-A505-BD78-D58A7EE2AF6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303463" y="4981780"/>
            <a:ext cx="6485967" cy="3613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Date, UCL Sans Regular 18pt </a:t>
            </a:r>
          </a:p>
        </p:txBody>
      </p:sp>
      <p:pic>
        <p:nvPicPr>
          <p:cNvPr id="9" name="Picture 8" descr="UCL logo, University College London">
            <a:extLst>
              <a:ext uri="{FF2B5EF4-FFF2-40B4-BE49-F238E27FC236}">
                <a16:creationId xmlns:a16="http://schemas.microsoft.com/office/drawing/2014/main" id="{D13C0C81-E6EF-C626-E359-2DC4637817E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1455" y="5661248"/>
            <a:ext cx="2844805" cy="79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091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Title full name logo - 2/3 line heading an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03463" y="409575"/>
            <a:ext cx="7084422" cy="197467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42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Main Headline style slide UCL Sans </a:t>
            </a:r>
            <a:r>
              <a:rPr lang="en-GB" dirty="0" err="1"/>
              <a:t>SemiBold</a:t>
            </a:r>
            <a:r>
              <a:rPr lang="en-GB" dirty="0"/>
              <a:t> 42pt </a:t>
            </a:r>
            <a:br>
              <a:rPr lang="en-GB" dirty="0"/>
            </a:br>
            <a:r>
              <a:rPr lang="en-GB" dirty="0"/>
              <a:t>2-3 lines max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64ED5BF-C3CF-4D38-BE90-EA0A915CFA6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303463" y="4473756"/>
            <a:ext cx="6485967" cy="3613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Names of Presenters, UCL Sans Regular 24pt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3D562-9BC1-5B2A-B39F-74DAD6DF1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35413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36BEE82-A57F-C035-F03D-A9DCB796DC7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303463" y="4981780"/>
            <a:ext cx="6485967" cy="3613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Date, UCL Sans Regular 18pt</a:t>
            </a:r>
          </a:p>
        </p:txBody>
      </p:sp>
      <p:pic>
        <p:nvPicPr>
          <p:cNvPr id="9" name="Picture 8" descr="UCL logo, University College London">
            <a:extLst>
              <a:ext uri="{FF2B5EF4-FFF2-40B4-BE49-F238E27FC236}">
                <a16:creationId xmlns:a16="http://schemas.microsoft.com/office/drawing/2014/main" id="{806284FE-9AAB-111F-B7E9-0694AF943D7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1455" y="5661248"/>
            <a:ext cx="2844805" cy="79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78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Title  - Faculty, School Department 2/3 line heading an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03463" y="409575"/>
            <a:ext cx="7084422" cy="197467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42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Main Headline style slide UCL Sans </a:t>
            </a:r>
            <a:r>
              <a:rPr lang="en-GB" dirty="0" err="1"/>
              <a:t>SemiBold</a:t>
            </a:r>
            <a:r>
              <a:rPr lang="en-GB" dirty="0"/>
              <a:t> 42pt </a:t>
            </a:r>
            <a:br>
              <a:rPr lang="en-GB" dirty="0"/>
            </a:br>
            <a:r>
              <a:rPr lang="en-GB" dirty="0"/>
              <a:t>2-3 lines max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5E8DED6-3359-C8D7-EDF1-14AE135495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303463" y="3627624"/>
            <a:ext cx="6485967" cy="3613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Names of Presenters, UCL Sans Regular 24pt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1B036D7-E2F6-A505-BD78-D58A7EE2AF6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303463" y="4135648"/>
            <a:ext cx="6485967" cy="3613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Date, UCL Sans Regular 18pt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B210098-618B-3211-A070-0B31B3AB0AF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2273719" y="5854933"/>
            <a:ext cx="6240809" cy="5827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Type in your faculty/department/unit name here </a:t>
            </a:r>
          </a:p>
          <a:p>
            <a:pPr lvl="0"/>
            <a:r>
              <a:rPr lang="en-GB" dirty="0"/>
              <a:t>UCL Sans Regular 18pt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3D562-9BC1-5B2A-B39F-74DAD6DF1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35413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CL logo, University College London">
            <a:extLst>
              <a:ext uri="{FF2B5EF4-FFF2-40B4-BE49-F238E27FC236}">
                <a16:creationId xmlns:a16="http://schemas.microsoft.com/office/drawing/2014/main" id="{015A3936-D42C-5AA9-C95F-13B329034A6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1455" y="5661248"/>
            <a:ext cx="2844805" cy="79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889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mple_Title -2-3 line heading and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8531EDC-6E9D-171F-68E1-2D8DBFCDB40E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354138" y="2852936"/>
            <a:ext cx="10837862" cy="4005064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03463" y="409575"/>
            <a:ext cx="7084422" cy="197467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42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Main Headline style slide UCL Sans </a:t>
            </a:r>
            <a:r>
              <a:rPr lang="en-GB" dirty="0" err="1"/>
              <a:t>SemiBold</a:t>
            </a:r>
            <a:r>
              <a:rPr lang="en-GB" dirty="0"/>
              <a:t> 42pt </a:t>
            </a:r>
            <a:br>
              <a:rPr lang="en-GB" dirty="0"/>
            </a:br>
            <a:r>
              <a:rPr lang="en-GB" dirty="0"/>
              <a:t>2-3 lines max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3D562-9BC1-5B2A-B39F-74DAD6DF1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35413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UCL logo, University College London">
            <a:extLst>
              <a:ext uri="{FF2B5EF4-FFF2-40B4-BE49-F238E27FC236}">
                <a16:creationId xmlns:a16="http://schemas.microsoft.com/office/drawing/2014/main" id="{D18708AF-A3A2-2F68-E544-B6827803E2D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37625" y="5653541"/>
            <a:ext cx="2843213" cy="79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291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Divider1 – 1 column title, subheading,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575" y="409575"/>
            <a:ext cx="3757703" cy="183029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Divider section Title 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5E8DED6-3359-C8D7-EDF1-14AE135495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9575" y="2422525"/>
            <a:ext cx="3757703" cy="10064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Subheading, UCL Sans Regular 24pt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595666D-8684-C6D9-B7E0-40470F82CBD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09575" y="4510352"/>
            <a:ext cx="3757703" cy="9347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Body text, UCL Sans Regular 18pt</a:t>
            </a:r>
          </a:p>
        </p:txBody>
      </p:sp>
      <p:sp>
        <p:nvSpPr>
          <p:cNvPr id="6" name="Picture Placeholder 2" descr="Add a clear, concise statement describing the main purpose of the image">
            <a:extLst>
              <a:ext uri="{FF2B5EF4-FFF2-40B4-BE49-F238E27FC236}">
                <a16:creationId xmlns:a16="http://schemas.microsoft.com/office/drawing/2014/main" id="{82876633-1ADE-997E-991B-B6FA6635A20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idx="10"/>
          </p:nvPr>
        </p:nvSpPr>
        <p:spPr>
          <a:xfrm>
            <a:off x="5145088" y="20073"/>
            <a:ext cx="4738687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458C44-E5EC-6C0F-07EE-14F8EFD85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35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mple_Divider2 – 1 column title, subheading,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35960" y="409575"/>
            <a:ext cx="3757703" cy="183029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Divider section Title 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5E8DED6-3359-C8D7-EDF1-14AE135495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35960" y="2422525"/>
            <a:ext cx="3757703" cy="10064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Subheading, UCL Sans Regular 24pt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595666D-8684-C6D9-B7E0-40470F82CBD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735960" y="4510352"/>
            <a:ext cx="3757703" cy="9347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Body text, UCL Sans Regular 18pt</a:t>
            </a:r>
          </a:p>
        </p:txBody>
      </p:sp>
      <p:sp>
        <p:nvSpPr>
          <p:cNvPr id="6" name="Picture Placeholder 2" descr="Add a clear, concise statement describing the main purpose of the image">
            <a:extLst>
              <a:ext uri="{FF2B5EF4-FFF2-40B4-BE49-F238E27FC236}">
                <a16:creationId xmlns:a16="http://schemas.microsoft.com/office/drawing/2014/main" id="{82876633-1ADE-997E-991B-B6FA6635A20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idx="10"/>
          </p:nvPr>
        </p:nvSpPr>
        <p:spPr>
          <a:xfrm>
            <a:off x="0" y="20073"/>
            <a:ext cx="4738687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18122F-70D4-67D5-8E4D-F01945D7B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21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1 column title subheading, charts, images, graph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576" y="409575"/>
            <a:ext cx="7583834" cy="100965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56CD648F-431D-5F73-408C-9A9A725008C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8539" y="1916826"/>
            <a:ext cx="7572936" cy="3758834"/>
          </a:xfrm>
          <a:prstGeom prst="rect">
            <a:avLst/>
          </a:prstGeom>
        </p:spPr>
        <p:txBody>
          <a:bodyPr/>
          <a:lstStyle>
            <a:lvl1pPr>
              <a:buNone/>
              <a:defRPr sz="1800"/>
            </a:lvl1pPr>
          </a:lstStyle>
          <a:p>
            <a:pPr lvl="0"/>
            <a:r>
              <a:rPr lang="en-GB" dirty="0"/>
              <a:t>Space for graphs, images, charts, videos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D0927E-B17D-5AAB-7B62-A7F6E96D7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3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2 column title subheading charts, images, graph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734C2A9-9A5D-B1B8-4932-DFDAC1AE795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09575" y="421180"/>
            <a:ext cx="4735513" cy="156091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UCL Sans SemiBold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Headline </a:t>
            </a:r>
          </a:p>
          <a:p>
            <a:pPr lvl="0"/>
            <a:r>
              <a:rPr lang="en-GB" dirty="0"/>
              <a:t>UCL Sans </a:t>
            </a:r>
          </a:p>
          <a:p>
            <a:pPr lvl="0"/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79E96EC-744C-3144-B51D-E5100BEE942C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096001" y="419192"/>
            <a:ext cx="5684838" cy="11285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UCL Sans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Subheading text style, </a:t>
            </a:r>
          </a:p>
          <a:p>
            <a:pPr lvl="0"/>
            <a:r>
              <a:rPr lang="en-GB" dirty="0"/>
              <a:t>UCL Sans regular 24pt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0CEB380-FACF-CB25-2505-20906C2E85C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080" y="2422525"/>
            <a:ext cx="4686360" cy="302260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Space for graphs, images, charts</a:t>
            </a:r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FB165C1-BA6C-CC63-70EA-E4881C9B3782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096000" y="2422525"/>
            <a:ext cx="5649921" cy="3022601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Space for graphs, images, charts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A53278-43EB-727A-BB6A-515939010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822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1 column titl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819" y="409575"/>
            <a:ext cx="7550693" cy="100965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5D11EE6-C4E2-EE93-39A9-79D248FDD1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0783" y="1916825"/>
            <a:ext cx="7550692" cy="3528300"/>
          </a:xfrm>
          <a:prstGeom prst="rect">
            <a:avLst/>
          </a:prstGeom>
        </p:spPr>
        <p:txBody>
          <a:bodyPr/>
          <a:lstStyle>
            <a:lvl1pPr marL="0">
              <a:lnSpc>
                <a:spcPct val="100000"/>
              </a:lnSpc>
              <a:buFont typeface="Wingdings" pitchFamily="2" charset="2"/>
              <a:buNone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UCL Sans Regular 18pt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96BD17-ACBE-B136-C0C2-347FD6061A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175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2 column title and subheading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8745" y="409575"/>
            <a:ext cx="7572730" cy="100965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5D11EE6-C4E2-EE93-39A9-79D248FDD1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7709" y="1916825"/>
            <a:ext cx="3321240" cy="35283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2400">
                <a:solidFill>
                  <a:schemeClr val="accent1"/>
                </a:solidFill>
              </a:defRPr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Subheading text style, UCL Sans regular 24pt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5335586-933A-6F8D-CF5B-B9D033AD83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70235" y="1916825"/>
            <a:ext cx="3321240" cy="35283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0A8775-7F4C-B3DF-556A-43E4628D9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399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2 column title and  bulle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576" y="409575"/>
            <a:ext cx="3786188" cy="183029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br>
              <a:rPr lang="en-GB" dirty="0"/>
            </a:b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5D11EE6-C4E2-EE93-39A9-79D248FDD1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3818" y="409575"/>
            <a:ext cx="6627019" cy="100647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Bullet text, UCL Sans Regular 18pt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7F7948-C0B4-4DA0-F295-8EA3ED1E9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046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3 column title and bulle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8531" y="409575"/>
            <a:ext cx="3797231" cy="183029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C1F16C-DBBC-93A6-C7EF-DE12462C35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6981" y="409575"/>
            <a:ext cx="2840039" cy="1291233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Bullet text, </a:t>
            </a:r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A92D522-EA5D-B98E-DDA4-80FEB73128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37625" y="409575"/>
            <a:ext cx="2840039" cy="1291233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Bullet text, </a:t>
            </a:r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BB61E5-C9D8-A05D-C8A2-706AEF9A9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17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Divider – 2 column title, subheading, text, table,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940" y="409575"/>
            <a:ext cx="3757703" cy="183029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Headline 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5E8DED6-3359-C8D7-EDF1-14AE135495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2940" y="2422525"/>
            <a:ext cx="3729218" cy="10064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Subtitle, UCL Sans Regular 24pt</a:t>
            </a:r>
          </a:p>
        </p:txBody>
      </p:sp>
      <p:sp>
        <p:nvSpPr>
          <p:cNvPr id="4" name="Table Placeholder 3" descr="Add a clear, concise statement describing the figures presented in the table">
            <a:extLst>
              <a:ext uri="{FF2B5EF4-FFF2-40B4-BE49-F238E27FC236}">
                <a16:creationId xmlns:a16="http://schemas.microsoft.com/office/drawing/2014/main" id="{A4C55113-F63B-C02B-63A2-F9C817D9BF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bl" sz="quarter" idx="12"/>
          </p:nvPr>
        </p:nvSpPr>
        <p:spPr>
          <a:xfrm>
            <a:off x="392940" y="3619500"/>
            <a:ext cx="2841625" cy="2828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75F6D65-6CB4-1A07-17CB-355AFECF9D4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411004" y="826261"/>
            <a:ext cx="7369833" cy="4122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Body text, UCL Sans Regular 18pt</a:t>
            </a:r>
          </a:p>
        </p:txBody>
      </p:sp>
      <p:sp>
        <p:nvSpPr>
          <p:cNvPr id="6" name="Picture Placeholder 2" descr="Add a clear, concise statement describing the main purpose of the image">
            <a:extLst>
              <a:ext uri="{FF2B5EF4-FFF2-40B4-BE49-F238E27FC236}">
                <a16:creationId xmlns:a16="http://schemas.microsoft.com/office/drawing/2014/main" id="{82876633-1ADE-997E-991B-B6FA6635A20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4411005" y="1419226"/>
            <a:ext cx="7371420" cy="44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AC2962-03E0-EA22-DBC0-9E4736A7D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933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2 column title, image,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6564" y="409575"/>
            <a:ext cx="5965287" cy="124224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7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0799EAC2-36C5-0886-6CEB-AA012D2BF0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6564" y="2046440"/>
            <a:ext cx="5516672" cy="21604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5D11EE6-C4E2-EE93-39A9-79D248FDD1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600" y="4438650"/>
            <a:ext cx="5516637" cy="10064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8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AC751661-2014-7CB4-B61A-24EB30E04B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2387" y="2046440"/>
            <a:ext cx="5516673" cy="21604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5584243F-83D4-EC28-5C47-CF5ACA19B5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82388" y="4438650"/>
            <a:ext cx="5494895" cy="10064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E78866-9053-C0FF-479E-006604389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856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mple_Content – Title - 2 column 1 image 1 tex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6564" y="409575"/>
            <a:ext cx="5965287" cy="124224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7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0799EAC2-36C5-0886-6CEB-AA012D2BF0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6564" y="2046440"/>
            <a:ext cx="4429696" cy="339868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5D11EE6-C4E2-EE93-39A9-79D248FDD1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3818" y="2046440"/>
            <a:ext cx="6627019" cy="33986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83C0A7-72DE-AAF6-9C2F-83EEF344D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878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full page image full colou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ECFBA17C-2B5D-255B-BB8F-D30D74D054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4561CB-C28E-2B9A-0BF9-49CA398334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249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4 column title, image,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745EF00-09E6-10CA-B1BF-5A7B7EC806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434508" y="409575"/>
            <a:ext cx="8569680" cy="1377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UCL Sans SemiBold" pitchFamily="2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Headline </a:t>
            </a:r>
          </a:p>
          <a:p>
            <a:pPr lvl="0"/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7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0799EAC2-36C5-0886-6CEB-AA012D2BF0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4507" y="2145327"/>
            <a:ext cx="2717527" cy="174819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8E98CA0-EAB4-835F-548A-B6C634C3B1F4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434508" y="4087765"/>
            <a:ext cx="2717526" cy="1377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18pt</a:t>
            </a:r>
          </a:p>
        </p:txBody>
      </p:sp>
      <p:sp>
        <p:nvSpPr>
          <p:cNvPr id="28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7A9B95BC-4D66-3908-97EF-FB4460F52B2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81193" y="2145327"/>
            <a:ext cx="2539327" cy="174819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1755B3-2EC0-736A-45CE-D2F11359FCF2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3454053" y="4087765"/>
            <a:ext cx="2580038" cy="1377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18pt</a:t>
            </a:r>
          </a:p>
        </p:txBody>
      </p:sp>
      <p:sp>
        <p:nvSpPr>
          <p:cNvPr id="35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C85375D3-F603-A1F9-0769-6A655B6E66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49679" y="2145327"/>
            <a:ext cx="2539327" cy="174819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93885E6-59BA-3D4B-A49F-F83F0A580D69}"/>
              </a:ext>
            </a:extLst>
          </p:cNvPr>
          <p:cNvSpPr>
            <a:spLocks noGrp="1"/>
          </p:cNvSpPr>
          <p:nvPr>
            <p:ph type="body" sz="half" idx="27" hasCustomPrompt="1"/>
          </p:nvPr>
        </p:nvSpPr>
        <p:spPr>
          <a:xfrm>
            <a:off x="6336110" y="4087765"/>
            <a:ext cx="2580038" cy="1377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18pt</a:t>
            </a:r>
          </a:p>
        </p:txBody>
      </p:sp>
      <p:sp>
        <p:nvSpPr>
          <p:cNvPr id="36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5B98E73B-EC26-695B-64A0-FE5244D0C7D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218166" y="2145327"/>
            <a:ext cx="2539327" cy="174819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308DBC67-B009-AACF-4F14-CEE565C4E072}"/>
              </a:ext>
            </a:extLst>
          </p:cNvPr>
          <p:cNvSpPr>
            <a:spLocks noGrp="1"/>
          </p:cNvSpPr>
          <p:nvPr>
            <p:ph type="body" sz="half" idx="28" hasCustomPrompt="1"/>
          </p:nvPr>
        </p:nvSpPr>
        <p:spPr>
          <a:xfrm>
            <a:off x="9218166" y="4087765"/>
            <a:ext cx="2539326" cy="1377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18pt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C298C2-508C-1619-2F51-CD8DCF5CE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3794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lex _Content – 2 column title, 1 subheading, 2 image/graphs/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879B5DC-7300-88F8-C308-CBC1B2803C6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354139" y="421180"/>
            <a:ext cx="4303112" cy="156091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UCL Sans SemiBold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Headline </a:t>
            </a:r>
          </a:p>
          <a:p>
            <a:pPr lvl="0"/>
            <a:r>
              <a:rPr lang="en-GB" dirty="0"/>
              <a:t>UCL Sans </a:t>
            </a:r>
          </a:p>
          <a:p>
            <a:pPr lvl="0"/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D51B5E5-6C5C-CBFB-B0B8-D64DB5640EBC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096001" y="419192"/>
            <a:ext cx="5684838" cy="11285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1"/>
                </a:solidFill>
                <a:latin typeface="UCL Sans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Subheading text style, </a:t>
            </a:r>
          </a:p>
          <a:p>
            <a:pPr lvl="0"/>
            <a:r>
              <a:rPr lang="en-GB" dirty="0"/>
              <a:t>UCL Sans regular 24pt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29D6C95-4A5B-9C67-29AF-2DE954D6E43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354138" y="2422525"/>
            <a:ext cx="4303112" cy="302260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Space for graphs, images, charts</a:t>
            </a:r>
            <a:endParaRPr lang="en-US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A7D660-C734-F70C-8436-BC3EFE9A5B2D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096000" y="2422525"/>
            <a:ext cx="5649921" cy="3022601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Space for graphs, images, charts</a:t>
            </a:r>
            <a:endParaRPr lang="en-US" dirty="0"/>
          </a:p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194073-EA37-1F6C-8979-A5566C6B6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8137" y="0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C4CDE7-BB95-C8A0-730E-D626B9750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1882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_Title  - 2/3 line heading,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F246E73-D036-D034-B53B-3390FBBB5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idx="10" hasCustomPrompt="1"/>
          </p:nvPr>
        </p:nvSpPr>
        <p:spPr>
          <a:xfrm>
            <a:off x="-7474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/>
            </a:lvl1pPr>
            <a:lvl2pPr marL="457200" indent="0">
              <a:buNone/>
              <a:defRPr sz="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dirty="0"/>
              <a:t>Insert and image</a:t>
            </a:r>
          </a:p>
        </p:txBody>
      </p:sp>
      <p:pic>
        <p:nvPicPr>
          <p:cNvPr id="2" name="Picture 1" descr="UCL logo, University College London">
            <a:extLst>
              <a:ext uri="{FF2B5EF4-FFF2-40B4-BE49-F238E27FC236}">
                <a16:creationId xmlns:a16="http://schemas.microsoft.com/office/drawing/2014/main" id="{3EE928D3-B605-30AB-BA7D-FB2B1FC48E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37625" y="5653541"/>
            <a:ext cx="2843213" cy="79805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86FC5-1258-6FBF-23A7-19183EBBA3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 hasCustomPrompt="1"/>
          </p:nvPr>
        </p:nvSpPr>
        <p:spPr>
          <a:xfrm>
            <a:off x="1401472" y="1"/>
            <a:ext cx="5633204" cy="6858000"/>
          </a:xfrm>
          <a:prstGeom prst="rect">
            <a:avLst/>
          </a:prstGeom>
          <a:solidFill>
            <a:schemeClr val="accent1"/>
          </a:solidFill>
        </p:spPr>
        <p:txBody>
          <a:bodyPr lIns="360000" tIns="360000" rIns="360000" bIns="36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200" b="1" i="0">
                <a:solidFill>
                  <a:schemeClr val="accent3"/>
                </a:solidFill>
                <a:latin typeface="UCL Sans SemiBold" pitchFamily="2" charset="77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GB" sz="4200" dirty="0">
                <a:solidFill>
                  <a:schemeClr val="accent3"/>
                </a:solidFill>
              </a:rPr>
              <a:t>Main Headline style slide UCL Sans </a:t>
            </a:r>
            <a:r>
              <a:rPr lang="en-GB" sz="4200" dirty="0" err="1">
                <a:solidFill>
                  <a:schemeClr val="accent3"/>
                </a:solidFill>
              </a:rPr>
              <a:t>SemiBold</a:t>
            </a:r>
            <a:r>
              <a:rPr lang="en-GB" sz="4200" dirty="0">
                <a:solidFill>
                  <a:schemeClr val="accent3"/>
                </a:solidFill>
              </a:rPr>
              <a:t> 42pt 2-3 lines max</a:t>
            </a:r>
            <a:endParaRPr lang="en-US" sz="4200" dirty="0">
              <a:solidFill>
                <a:schemeClr val="accent3"/>
              </a:solidFill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5E8DED6-3359-C8D7-EDF1-14AE135495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91890" y="3455778"/>
            <a:ext cx="4807745" cy="7077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Names of Presenters, </a:t>
            </a:r>
          </a:p>
          <a:p>
            <a:pPr lvl="0"/>
            <a:r>
              <a:rPr lang="en-GB" dirty="0"/>
              <a:t>UCL Sans regular 24pt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1780D4D-96BC-3F19-6FFC-D0D6B82AF61A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791889" y="4503309"/>
            <a:ext cx="4807745" cy="2650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Date, UCL Sans regular 18px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3D562-9BC1-5B2A-B39F-74DAD6DF1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5887" y="0"/>
            <a:ext cx="4095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D0518E-CF11-EBA3-9663-A8A79A187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34676" y="4532"/>
            <a:ext cx="470692" cy="68534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3077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 _Content – 1 column title an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36124" y="409575"/>
            <a:ext cx="6604548" cy="100965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Divider section Title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5D11EE6-C4E2-EE93-39A9-79D248FDD1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6124" y="1916825"/>
            <a:ext cx="6604547" cy="35283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800">
                <a:solidFill>
                  <a:schemeClr val="bg1"/>
                </a:solidFill>
              </a:defRPr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FDE716-F6EE-9CD2-4183-C3966BF52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354138" y="0"/>
            <a:ext cx="18923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99A0D4-0838-5973-6802-0E9A93433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535" y="2448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4D565B-2E0B-B3BA-562F-3D6EFC90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0556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 _ Divider – 2 column title, text, table,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54138" y="409575"/>
            <a:ext cx="3757703" cy="183029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5E8DED6-3359-C8D7-EDF1-14AE135495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82624" y="2422525"/>
            <a:ext cx="3729218" cy="10064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Subtitle, UCL Sans Regular 24pt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A4C55113-F63B-C02B-63A2-F9C817D9BF3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1354139" y="3558615"/>
            <a:ext cx="2668022" cy="28289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75F6D65-6CB4-1A07-17CB-355AFECF9D4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272740" y="882638"/>
            <a:ext cx="6508098" cy="4122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Text, UCL Sans Regular 18pt</a:t>
            </a:r>
          </a:p>
        </p:txBody>
      </p:sp>
      <p:sp>
        <p:nvSpPr>
          <p:cNvPr id="6" name="Picture Placeholder 2" descr="Add a clear, concise statement describing the main purpose of the image">
            <a:extLst>
              <a:ext uri="{FF2B5EF4-FFF2-40B4-BE49-F238E27FC236}">
                <a16:creationId xmlns:a16="http://schemas.microsoft.com/office/drawing/2014/main" id="{82876633-1ADE-997E-991B-B6FA6635A20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5275105" y="1419226"/>
            <a:ext cx="6507320" cy="44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235949-2C3C-533B-6BE3-4C117E17E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55F678-9F19-2B31-68D4-F374061E8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723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 _Content – 2 column 1 title, 2 images, 2 tex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54138" y="409575"/>
            <a:ext cx="5965287" cy="124224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7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0799EAC2-36C5-0886-6CEB-AA012D2BF0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54138" y="2046440"/>
            <a:ext cx="5070914" cy="21604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5D11EE6-C4E2-EE93-39A9-79D248FDD1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3402" y="4438650"/>
            <a:ext cx="5070914" cy="1006475"/>
          </a:xfrm>
          <a:prstGeom prst="rect">
            <a:avLst/>
          </a:prstGeom>
        </p:spPr>
        <p:txBody>
          <a:bodyPr/>
          <a:lstStyle>
            <a:lvl1pPr marL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UCL Sans Regular 18pt</a:t>
            </a:r>
            <a:endParaRPr lang="en-US" dirty="0"/>
          </a:p>
        </p:txBody>
      </p:sp>
      <p:sp>
        <p:nvSpPr>
          <p:cNvPr id="8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AC751661-2014-7CB4-B61A-24EB30E04B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86368" y="2046440"/>
            <a:ext cx="5070914" cy="21604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5584243F-83D4-EC28-5C47-CF5ACA19B5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86367" y="4438650"/>
            <a:ext cx="5049033" cy="1006475"/>
          </a:xfrm>
          <a:prstGeom prst="rect">
            <a:avLst/>
          </a:prstGeom>
        </p:spPr>
        <p:txBody>
          <a:bodyPr/>
          <a:lstStyle>
            <a:lvl1pPr marL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UCL Sans Regular 18pt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31EA68-8F97-2C93-1DF1-0C50A907A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935693-F1F7-EFB7-3F70-BBCEEF923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8824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x _Content – 2 column 1 title, 2 images, 2 tex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8CF606E-A120-FD80-1208-6800F7AB3C8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43450" y="409575"/>
            <a:ext cx="5965287" cy="124224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10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2F201AA6-C7B0-FA4A-12EF-F05A6A27B8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43449" y="2046440"/>
            <a:ext cx="4502211" cy="339868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DB5FBAF-BF92-0B32-16AD-1D4746507F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2046440"/>
            <a:ext cx="5684838" cy="33986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31EA68-8F97-2C93-1DF1-0C50A907A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E64966-6EA4-2AE9-2F73-A1E95B461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9273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 _Content – 4 column title, 4 images, 4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745EF00-09E6-10CA-B1BF-5A7B7EC806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54138" y="409575"/>
            <a:ext cx="8569680" cy="13779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UCL Sans SemiBold" pitchFamily="2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Headline </a:t>
            </a:r>
          </a:p>
          <a:p>
            <a:pPr lvl="0"/>
            <a:r>
              <a:rPr lang="en-GB" dirty="0"/>
              <a:t>UCL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7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0799EAC2-36C5-0886-6CEB-AA012D2BF0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54136" y="2185495"/>
            <a:ext cx="2445318" cy="174819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54135" y="4204795"/>
            <a:ext cx="2438375" cy="1242244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tx2"/>
                </a:solidFill>
                <a:latin typeface="UCL Sa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Body text, </a:t>
            </a:r>
            <a:br>
              <a:rPr lang="en-GB" dirty="0"/>
            </a:br>
            <a:r>
              <a:rPr lang="en-GB" dirty="0"/>
              <a:t>UCL Sans Regular 18pt</a:t>
            </a:r>
          </a:p>
        </p:txBody>
      </p:sp>
      <p:sp>
        <p:nvSpPr>
          <p:cNvPr id="28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7A9B95BC-4D66-3908-97EF-FB4460F52B2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14597" y="2185495"/>
            <a:ext cx="2445318" cy="174819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FBDDB7BF-E334-9161-E3A7-3D392EA86CA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14597" y="4204795"/>
            <a:ext cx="2445318" cy="12689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latin typeface="UCL Sans" pitchFamily="2" charset="77"/>
              </a:defRPr>
            </a:lvl1pPr>
            <a:lvl2pPr>
              <a:buNone/>
              <a:defRPr sz="1200" b="0" i="0">
                <a:latin typeface="UCL Sans" pitchFamily="2" charset="77"/>
              </a:defRPr>
            </a:lvl2pPr>
            <a:lvl3pPr>
              <a:buNone/>
              <a:defRPr sz="1200" b="0" i="0">
                <a:latin typeface="UCL Sans" pitchFamily="2" charset="77"/>
              </a:defRPr>
            </a:lvl3pPr>
            <a:lvl4pPr>
              <a:buNone/>
              <a:defRPr sz="1200" b="0" i="0">
                <a:latin typeface="UCL Sans" pitchFamily="2" charset="77"/>
              </a:defRPr>
            </a:lvl4pPr>
            <a:lvl5pPr>
              <a:buNone/>
              <a:defRPr sz="1200" b="0" i="0">
                <a:latin typeface="UCL Sans" pitchFamily="2" charset="77"/>
              </a:defRPr>
            </a:lvl5pPr>
          </a:lstStyle>
          <a:p>
            <a:pPr lvl="0"/>
            <a:r>
              <a:rPr lang="en-GB" dirty="0"/>
              <a:t>Body text, </a:t>
            </a:r>
            <a:br>
              <a:rPr lang="en-GB" dirty="0"/>
            </a:br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35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C85375D3-F603-A1F9-0769-6A655B6E66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675058" y="2185495"/>
            <a:ext cx="2445318" cy="174819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C1102347-D73B-9C6D-7E2C-F4283EC520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75058" y="4204795"/>
            <a:ext cx="2426413" cy="124224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latin typeface="UCL Sans" pitchFamily="2" charset="77"/>
              </a:defRPr>
            </a:lvl1pPr>
            <a:lvl2pPr>
              <a:buNone/>
              <a:defRPr sz="1200" b="0" i="0">
                <a:latin typeface="UCL Sans" pitchFamily="2" charset="77"/>
              </a:defRPr>
            </a:lvl2pPr>
            <a:lvl3pPr>
              <a:buNone/>
              <a:defRPr sz="1200" b="0" i="0">
                <a:latin typeface="UCL Sans" pitchFamily="2" charset="77"/>
              </a:defRPr>
            </a:lvl3pPr>
            <a:lvl4pPr>
              <a:buNone/>
              <a:defRPr sz="1200" b="0" i="0">
                <a:latin typeface="UCL Sans" pitchFamily="2" charset="77"/>
              </a:defRPr>
            </a:lvl4pPr>
            <a:lvl5pPr>
              <a:buNone/>
              <a:defRPr sz="1200" b="0" i="0">
                <a:latin typeface="UCL Sans" pitchFamily="2" charset="77"/>
              </a:defRPr>
            </a:lvl5pPr>
          </a:lstStyle>
          <a:p>
            <a:pPr lvl="0"/>
            <a:r>
              <a:rPr lang="en-GB" dirty="0"/>
              <a:t>Body text, </a:t>
            </a:r>
            <a:br>
              <a:rPr lang="en-GB" dirty="0"/>
            </a:br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36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5B98E73B-EC26-695B-64A0-FE5244D0C7D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335520" y="2185495"/>
            <a:ext cx="2445318" cy="174819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62033B8-9ECF-6181-24C6-8380692FF4A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20932" y="4204795"/>
            <a:ext cx="2459905" cy="1266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latin typeface="UCL Sans" pitchFamily="2" charset="77"/>
              </a:defRPr>
            </a:lvl1pPr>
            <a:lvl2pPr>
              <a:buNone/>
              <a:defRPr sz="1200" b="0" i="0">
                <a:latin typeface="UCL Sans" pitchFamily="2" charset="77"/>
              </a:defRPr>
            </a:lvl2pPr>
            <a:lvl3pPr>
              <a:buNone/>
              <a:defRPr sz="1200" b="0" i="0">
                <a:latin typeface="UCL Sans" pitchFamily="2" charset="77"/>
              </a:defRPr>
            </a:lvl3pPr>
            <a:lvl4pPr>
              <a:buNone/>
              <a:defRPr sz="1200" b="0" i="0">
                <a:latin typeface="UCL Sans" pitchFamily="2" charset="77"/>
              </a:defRPr>
            </a:lvl4pPr>
            <a:lvl5pPr>
              <a:buNone/>
              <a:defRPr sz="1200" b="0" i="0">
                <a:latin typeface="UCL Sans" pitchFamily="2" charset="77"/>
              </a:defRPr>
            </a:lvl5pPr>
          </a:lstStyle>
          <a:p>
            <a:pPr lvl="0"/>
            <a:r>
              <a:rPr lang="en-GB" dirty="0"/>
              <a:t>Body text, </a:t>
            </a:r>
            <a:br>
              <a:rPr lang="en-GB" dirty="0"/>
            </a:br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D764E0-C2A5-851D-9E15-7970376FA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1993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E115A2-315F-2C75-AD3F-871CC5AAC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7919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 _Content – 2 column title, 1 subheading, 2 image/graphs/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879B5DC-7300-88F8-C308-CBC1B2803C6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354139" y="421180"/>
            <a:ext cx="4303112" cy="156091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UCL Sans SemiBold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Headline </a:t>
            </a:r>
          </a:p>
          <a:p>
            <a:pPr lvl="0"/>
            <a:r>
              <a:rPr lang="en-GB" dirty="0"/>
              <a:t>UCL Sans </a:t>
            </a:r>
          </a:p>
          <a:p>
            <a:pPr lvl="0"/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D51B5E5-6C5C-CBFB-B0B8-D64DB5640EBC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096001" y="419192"/>
            <a:ext cx="5684838" cy="11285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1"/>
                </a:solidFill>
                <a:latin typeface="UCL Sans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Subheading text style, </a:t>
            </a:r>
          </a:p>
          <a:p>
            <a:pPr lvl="0"/>
            <a:r>
              <a:rPr lang="en-GB" dirty="0"/>
              <a:t>UCL Sans regular 24pt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29D6C95-4A5B-9C67-29AF-2DE954D6E43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354138" y="2422525"/>
            <a:ext cx="4303112" cy="302260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Space for graphs, images, charts</a:t>
            </a:r>
            <a:endParaRPr lang="en-US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A7D660-C734-F70C-8436-BC3EFE9A5B2D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096000" y="2422525"/>
            <a:ext cx="5649921" cy="3022601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Space for graphs, images, charts</a:t>
            </a:r>
            <a:endParaRPr lang="en-US" dirty="0"/>
          </a:p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194073-EA37-1F6C-8979-A5566C6B6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8137" y="0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C4CDE7-BB95-C8A0-730E-D626B9750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2948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– full page image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ECFBA17C-2B5D-255B-BB8F-D30D74D054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391438" y="0"/>
            <a:ext cx="1180056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194073-EA37-1F6C-8979-A5566C6B6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8137" y="0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92A8DC-7EF8-37EE-2959-687D81C06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0890" y="6067187"/>
            <a:ext cx="1432605" cy="40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43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BDE158-E1C9-B1AC-ECDC-73BA00A9F6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2742C-E3D3-975E-E4B8-7BDB2954BB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29269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94" r:id="rId2"/>
    <p:sldLayoutId id="2147483799" r:id="rId3"/>
    <p:sldLayoutId id="2147483804" r:id="rId4"/>
    <p:sldLayoutId id="2147483723" r:id="rId5"/>
    <p:sldLayoutId id="2147483805" r:id="rId6"/>
    <p:sldLayoutId id="2147483734" r:id="rId7"/>
    <p:sldLayoutId id="2147483720" r:id="rId8"/>
    <p:sldLayoutId id="2147483725" r:id="rId9"/>
    <p:sldLayoutId id="2147483759" r:id="rId10"/>
    <p:sldLayoutId id="2147483733" r:id="rId11"/>
    <p:sldLayoutId id="2147483726" r:id="rId12"/>
    <p:sldLayoutId id="2147483729" r:id="rId13"/>
    <p:sldLayoutId id="2147483727" r:id="rId14"/>
    <p:sldLayoutId id="2147483802" r:id="rId15"/>
    <p:sldLayoutId id="2147483806" r:id="rId16"/>
    <p:sldLayoutId id="2147483728" r:id="rId17"/>
    <p:sldLayoutId id="214748380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tx1"/>
          </a:solidFill>
          <a:latin typeface="UCL Sans SemiBol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800" kern="1200">
          <a:solidFill>
            <a:schemeClr val="tx1"/>
          </a:solidFill>
          <a:latin typeface="UCL Sans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UCL Sans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UCL Sans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kern="1200">
          <a:solidFill>
            <a:schemeClr val="tx1"/>
          </a:solidFill>
          <a:latin typeface="UCL Sans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kern="1200">
          <a:solidFill>
            <a:schemeClr val="tx1"/>
          </a:solidFill>
          <a:latin typeface="UCL Sans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" userDrawn="1">
          <p15:clr>
            <a:srgbClr val="F26B43"/>
          </p15:clr>
        </p15:guide>
        <p15:guide id="2" pos="258" userDrawn="1">
          <p15:clr>
            <a:srgbClr val="F26B43"/>
          </p15:clr>
        </p15:guide>
        <p15:guide id="3" orient="horz" pos="4064" userDrawn="1">
          <p15:clr>
            <a:srgbClr val="F26B43"/>
          </p15:clr>
        </p15:guide>
        <p15:guide id="4" pos="853" userDrawn="1">
          <p15:clr>
            <a:srgbClr val="F26B43"/>
          </p15:clr>
        </p15:guide>
        <p15:guide id="5" pos="1451" userDrawn="1">
          <p15:clr>
            <a:srgbClr val="F26B43"/>
          </p15:clr>
        </p15:guide>
        <p15:guide id="6" pos="2048" userDrawn="1">
          <p15:clr>
            <a:srgbClr val="F26B43"/>
          </p15:clr>
        </p15:guide>
        <p15:guide id="7" pos="2643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pos="3241" userDrawn="1">
          <p15:clr>
            <a:srgbClr val="F26B43"/>
          </p15:clr>
        </p15:guide>
        <p15:guide id="10" pos="4436" userDrawn="1">
          <p15:clr>
            <a:srgbClr val="F26B43"/>
          </p15:clr>
        </p15:guide>
        <p15:guide id="11" pos="5034" userDrawn="1">
          <p15:clr>
            <a:srgbClr val="F26B43"/>
          </p15:clr>
        </p15:guide>
        <p15:guide id="12" pos="5630" userDrawn="1">
          <p15:clr>
            <a:srgbClr val="F26B43"/>
          </p15:clr>
        </p15:guide>
        <p15:guide id="13" pos="6226" userDrawn="1">
          <p15:clr>
            <a:srgbClr val="F26B43"/>
          </p15:clr>
        </p15:guide>
        <p15:guide id="14" pos="6824" userDrawn="1">
          <p15:clr>
            <a:srgbClr val="F26B43"/>
          </p15:clr>
        </p15:guide>
        <p15:guide id="15" pos="7421" userDrawn="1">
          <p15:clr>
            <a:srgbClr val="F26B43"/>
          </p15:clr>
        </p15:guide>
        <p15:guide id="16" orient="horz" pos="3430" userDrawn="1">
          <p15:clr>
            <a:srgbClr val="F26B43"/>
          </p15:clr>
        </p15:guide>
        <p15:guide id="17" orient="horz" pos="2796" userDrawn="1">
          <p15:clr>
            <a:srgbClr val="F26B43"/>
          </p15:clr>
        </p15:guide>
        <p15:guide id="18" orient="horz" pos="894" userDrawn="1">
          <p15:clr>
            <a:srgbClr val="F26B43"/>
          </p15:clr>
        </p15:guide>
        <p15:guide id="19" orient="horz" pos="1526" userDrawn="1">
          <p15:clr>
            <a:srgbClr val="F26B43"/>
          </p15:clr>
        </p15:guide>
        <p15:guide id="20" orient="horz" pos="21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4B97B0-6D67-3762-FAC1-F9C15B6089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8E98D-5DC5-F844-0B8F-29580141F4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34988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3" r:id="rId2"/>
    <p:sldLayoutId id="2147483767" r:id="rId3"/>
    <p:sldLayoutId id="2147483769" r:id="rId4"/>
    <p:sldLayoutId id="2147483803" r:id="rId5"/>
    <p:sldLayoutId id="2147483770" r:id="rId6"/>
    <p:sldLayoutId id="2147483771" r:id="rId7"/>
    <p:sldLayoutId id="214748380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tx1"/>
          </a:solidFill>
          <a:latin typeface="UCL Sans SemiBol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800" kern="1200">
          <a:solidFill>
            <a:schemeClr val="tx1"/>
          </a:solidFill>
          <a:latin typeface="UCL Sans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UCL Sans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UCL Sans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kern="1200">
          <a:solidFill>
            <a:schemeClr val="tx1"/>
          </a:solidFill>
          <a:latin typeface="UCL Sans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kern="1200">
          <a:solidFill>
            <a:schemeClr val="tx1"/>
          </a:solidFill>
          <a:latin typeface="UCL Sans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" userDrawn="1">
          <p15:clr>
            <a:srgbClr val="F26B43"/>
          </p15:clr>
        </p15:guide>
        <p15:guide id="2" pos="258" userDrawn="1">
          <p15:clr>
            <a:srgbClr val="F26B43"/>
          </p15:clr>
        </p15:guide>
        <p15:guide id="3" orient="horz" pos="4064" userDrawn="1">
          <p15:clr>
            <a:srgbClr val="F26B43"/>
          </p15:clr>
        </p15:guide>
        <p15:guide id="4" pos="853" userDrawn="1">
          <p15:clr>
            <a:srgbClr val="F26B43"/>
          </p15:clr>
        </p15:guide>
        <p15:guide id="5" pos="1451" userDrawn="1">
          <p15:clr>
            <a:srgbClr val="F26B43"/>
          </p15:clr>
        </p15:guide>
        <p15:guide id="6" pos="2048" userDrawn="1">
          <p15:clr>
            <a:srgbClr val="F26B43"/>
          </p15:clr>
        </p15:guide>
        <p15:guide id="7" pos="2643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pos="3241" userDrawn="1">
          <p15:clr>
            <a:srgbClr val="F26B43"/>
          </p15:clr>
        </p15:guide>
        <p15:guide id="10" pos="4436" userDrawn="1">
          <p15:clr>
            <a:srgbClr val="F26B43"/>
          </p15:clr>
        </p15:guide>
        <p15:guide id="11" pos="5034" userDrawn="1">
          <p15:clr>
            <a:srgbClr val="F26B43"/>
          </p15:clr>
        </p15:guide>
        <p15:guide id="12" pos="5630" userDrawn="1">
          <p15:clr>
            <a:srgbClr val="F26B43"/>
          </p15:clr>
        </p15:guide>
        <p15:guide id="13" pos="6226" userDrawn="1">
          <p15:clr>
            <a:srgbClr val="F26B43"/>
          </p15:clr>
        </p15:guide>
        <p15:guide id="14" pos="6824" userDrawn="1">
          <p15:clr>
            <a:srgbClr val="F26B43"/>
          </p15:clr>
        </p15:guide>
        <p15:guide id="15" pos="7421" userDrawn="1">
          <p15:clr>
            <a:srgbClr val="F26B43"/>
          </p15:clr>
        </p15:guide>
        <p15:guide id="16" orient="horz" pos="3430" userDrawn="1">
          <p15:clr>
            <a:srgbClr val="F26B43"/>
          </p15:clr>
        </p15:guide>
        <p15:guide id="17" orient="horz" pos="2796" userDrawn="1">
          <p15:clr>
            <a:srgbClr val="F26B43"/>
          </p15:clr>
        </p15:guide>
        <p15:guide id="18" orient="horz" pos="894" userDrawn="1">
          <p15:clr>
            <a:srgbClr val="F26B43"/>
          </p15:clr>
        </p15:guide>
        <p15:guide id="19" orient="horz" pos="1526" userDrawn="1">
          <p15:clr>
            <a:srgbClr val="F26B43"/>
          </p15:clr>
        </p15:guide>
        <p15:guide id="20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8A5EE-650D-7E71-50D0-A1913B92E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5EE5298-FDE1-1165-0A07-F395D9171B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3463" y="409575"/>
            <a:ext cx="9265145" cy="1974670"/>
          </a:xfrm>
        </p:spPr>
        <p:txBody>
          <a:bodyPr/>
          <a:lstStyle/>
          <a:p>
            <a:r>
              <a:rPr lang="en-GB" sz="3200" dirty="0"/>
              <a:t>Project Update:</a:t>
            </a:r>
            <a:r>
              <a:rPr lang="en-GB" dirty="0"/>
              <a:t> </a:t>
            </a:r>
            <a:br>
              <a:rPr lang="en-GB" dirty="0"/>
            </a:br>
            <a:r>
              <a:rPr lang="en-GB" sz="3200" dirty="0"/>
              <a:t>Towards Digital Twins for Methane Emissions Forecasting and Scenario Analysis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CC6AB8D-4544-9704-B0A1-EC65A500F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dirty="0"/>
              <a:t>Nicholas Tobias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4B24D-F9EA-CF9A-07F8-D0EFDECFC1C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04/06/2026</a:t>
            </a:r>
          </a:p>
          <a:p>
            <a:r>
              <a:rPr lang="en-GB" dirty="0"/>
              <a:t> 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D346E-695A-9685-C746-7CDB4230E127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lvl="0"/>
            <a:r>
              <a:rPr lang="en-GB" dirty="0"/>
              <a:t>Supervisor: Prof. Paul Harris, Rothamsted Research</a:t>
            </a:r>
          </a:p>
        </p:txBody>
      </p:sp>
    </p:spTree>
    <p:extLst>
      <p:ext uri="{BB962C8B-B14F-4D97-AF65-F5344CB8AC3E}">
        <p14:creationId xmlns:p14="http://schemas.microsoft.com/office/powerpoint/2010/main" val="163929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BEEB1-A797-2E96-AE83-C1A994019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667181-D86B-1A3D-08D6-E413A7DBF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54138" y="421180"/>
            <a:ext cx="10070454" cy="775572"/>
          </a:xfrm>
        </p:spPr>
        <p:txBody>
          <a:bodyPr anchor="ctr" anchorCtr="0"/>
          <a:lstStyle/>
          <a:p>
            <a:pPr lvl="0"/>
            <a:r>
              <a:rPr lang="en-GB" dirty="0"/>
              <a:t>Quick </a:t>
            </a:r>
            <a:r>
              <a:rPr lang="en-GB" sz="1200" dirty="0"/>
              <a:t>(</a:t>
            </a:r>
            <a:r>
              <a:rPr lang="en-GB" sz="1200" dirty="0">
                <a:solidFill>
                  <a:schemeClr val="accent2"/>
                </a:solidFill>
              </a:rPr>
              <a:t>and possibly small</a:t>
            </a:r>
            <a:r>
              <a:rPr lang="en-GB" sz="1200" dirty="0"/>
              <a:t>)</a:t>
            </a:r>
            <a:r>
              <a:rPr lang="en-GB" dirty="0"/>
              <a:t> Progress Update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22301EF-0768-3565-8BB9-5C058DABF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139" y="1140080"/>
            <a:ext cx="9926438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08000" rIns="91440" bIns="10800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300" dirty="0">
                <a:solidFill>
                  <a:srgbClr val="212121"/>
                </a:solidFill>
                <a:latin typeface="UCL Sans" pitchFamily="2" charset="77"/>
              </a:rPr>
              <a:t>Unfortunately, little progress from last meeting due to exam season (which is now finished)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300" dirty="0">
                <a:solidFill>
                  <a:srgbClr val="212121"/>
                </a:solidFill>
                <a:latin typeface="UCL Sans" pitchFamily="2" charset="77"/>
              </a:rPr>
              <a:t>Dataset is being prepared: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300" dirty="0">
                <a:solidFill>
                  <a:srgbClr val="212121"/>
                </a:solidFill>
                <a:latin typeface="UCL Sans" pitchFamily="2" charset="77"/>
              </a:rPr>
              <a:t>Data aggregated (most likely w/ mean) to hourly level in conjunction to planned forecasting granularity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300" dirty="0">
                <a:solidFill>
                  <a:srgbClr val="212121"/>
                </a:solidFill>
                <a:latin typeface="UCL Sans" pitchFamily="2" charset="77"/>
              </a:rPr>
              <a:t>Data filtered for relevant catchments only (2, 4, 9)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300" dirty="0">
                <a:solidFill>
                  <a:srgbClr val="212121"/>
                </a:solidFill>
                <a:latin typeface="UCL Sans" pitchFamily="2" charset="77"/>
              </a:rPr>
              <a:t>Full gap analysis to be done (gap filling for soil moisture, </a:t>
            </a:r>
            <a:r>
              <a:rPr lang="en-US" altLang="en-US" sz="1300" dirty="0" err="1">
                <a:solidFill>
                  <a:srgbClr val="212121"/>
                </a:solidFill>
                <a:latin typeface="UCL Sans" pitchFamily="2" charset="77"/>
              </a:rPr>
              <a:t>etc</a:t>
            </a:r>
            <a:r>
              <a:rPr lang="en-US" altLang="en-US" sz="1300" dirty="0">
                <a:solidFill>
                  <a:srgbClr val="212121"/>
                </a:solidFill>
                <a:latin typeface="UCL Sans" pitchFamily="2" charset="77"/>
              </a:rPr>
              <a:t> to be checked as well)</a:t>
            </a:r>
          </a:p>
          <a:p>
            <a:pPr marL="1257300" lvl="2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300" dirty="0">
                <a:solidFill>
                  <a:srgbClr val="212121"/>
                </a:solidFill>
                <a:latin typeface="UCL Sans" pitchFamily="2" charset="77"/>
              </a:rPr>
              <a:t>Possibly… process-based models might be required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sz="1400" dirty="0">
              <a:solidFill>
                <a:srgbClr val="212121"/>
              </a:solidFill>
              <a:latin typeface="UCL Sans" pitchFamily="2" charset="77"/>
            </a:endParaRPr>
          </a:p>
          <a:p>
            <a:pPr marL="285750" indent="-28575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300" dirty="0">
                <a:solidFill>
                  <a:srgbClr val="212121"/>
                </a:solidFill>
                <a:latin typeface="UCL Sans" pitchFamily="2" charset="77"/>
              </a:rPr>
              <a:t>Once data is compiled, paper to be replicated:</a:t>
            </a:r>
            <a:r>
              <a:rPr lang="en-ID" sz="1300" dirty="0">
                <a:latin typeface="UCL Sans" pitchFamily="2" charset="77"/>
              </a:rPr>
              <a:t> Gap-filling carbon dioxide, water, energy, and methane fluxes in challenging ecosystems: Comparing between methods, drivers, and gap-lengths. </a:t>
            </a:r>
          </a:p>
          <a:p>
            <a:pPr marL="800100" lvl="1" indent="-34290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300" dirty="0">
                <a:latin typeface="UCL Sans" pitchFamily="2" charset="77"/>
              </a:rPr>
              <a:t>Paper highlights </a:t>
            </a:r>
            <a:r>
              <a:rPr lang="en-ID" sz="1300" b="1" dirty="0">
                <a:solidFill>
                  <a:schemeClr val="accent2"/>
                </a:solidFill>
                <a:latin typeface="UCL Sans" pitchFamily="2" charset="77"/>
              </a:rPr>
              <a:t>critical methodologies for gap filling. In particular, </a:t>
            </a:r>
            <a:r>
              <a:rPr lang="en-ID" sz="1300" b="1" dirty="0" err="1">
                <a:solidFill>
                  <a:schemeClr val="accent2"/>
                </a:solidFill>
                <a:latin typeface="UCL Sans" pitchFamily="2" charset="77"/>
              </a:rPr>
              <a:t>RFRm</a:t>
            </a:r>
            <a:r>
              <a:rPr lang="en-ID" sz="1300" b="1" dirty="0">
                <a:solidFill>
                  <a:schemeClr val="accent2"/>
                </a:solidFill>
                <a:latin typeface="UCL Sans" pitchFamily="2" charset="77"/>
              </a:rPr>
              <a:t> outperforms all other models</a:t>
            </a:r>
          </a:p>
          <a:p>
            <a:pPr marL="800100" lvl="1" indent="-34290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300" dirty="0">
                <a:latin typeface="UCL Sans" pitchFamily="2" charset="77"/>
              </a:rPr>
              <a:t>As suggested, gap-filling for CO</a:t>
            </a:r>
            <a:r>
              <a:rPr lang="en-ID" sz="1300" baseline="-25000" dirty="0">
                <a:latin typeface="UCL Sans" pitchFamily="2" charset="77"/>
              </a:rPr>
              <a:t>2</a:t>
            </a:r>
            <a:r>
              <a:rPr lang="en-ID" sz="1300" dirty="0">
                <a:latin typeface="UCL Sans" pitchFamily="2" charset="77"/>
              </a:rPr>
              <a:t> to be checked for correlation with CH</a:t>
            </a:r>
            <a:r>
              <a:rPr lang="en-ID" sz="1300" baseline="-25000" dirty="0">
                <a:latin typeface="UCL Sans" pitchFamily="2" charset="77"/>
              </a:rPr>
              <a:t>4</a:t>
            </a:r>
            <a:r>
              <a:rPr lang="en-ID" sz="1300" dirty="0">
                <a:latin typeface="UCL Sans" pitchFamily="2" charset="77"/>
              </a:rPr>
              <a:t> as well</a:t>
            </a:r>
          </a:p>
          <a:p>
            <a:pPr marL="800100" lvl="1" indent="-34290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300" dirty="0">
                <a:latin typeface="UCL Sans" pitchFamily="2" charset="77"/>
              </a:rPr>
              <a:t>Comparison between results of differing models to be checked</a:t>
            </a:r>
          </a:p>
          <a:p>
            <a:pPr marL="800100" lvl="1" indent="-34290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ID" sz="1300" dirty="0">
              <a:latin typeface="UCL Sans" pitchFamily="2" charset="77"/>
            </a:endParaRPr>
          </a:p>
          <a:p>
            <a:pPr marL="342900" indent="-34290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300" dirty="0">
                <a:latin typeface="UCL Sans" pitchFamily="2" charset="77"/>
              </a:rPr>
              <a:t>Query from previous meet:</a:t>
            </a:r>
          </a:p>
          <a:p>
            <a:pPr marL="800100" lvl="1" indent="-34290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UCL Sans" pitchFamily="2" charset="77"/>
              </a:rPr>
              <a:t>Is the raw data from NWFP still require some further post-processing with </a:t>
            </a:r>
            <a:r>
              <a:rPr lang="en-US" altLang="en-US" sz="1200" dirty="0" err="1">
                <a:latin typeface="UCL Sans" pitchFamily="2" charset="77"/>
              </a:rPr>
              <a:t>EddyPro</a:t>
            </a:r>
            <a:r>
              <a:rPr lang="en-US" altLang="en-US" sz="1200" dirty="0">
                <a:latin typeface="UCL Sans" pitchFamily="2" charset="77"/>
              </a:rPr>
              <a:t> and Tovi software? </a:t>
            </a:r>
            <a:r>
              <a:rPr lang="en-US" altLang="en-US" sz="1200" dirty="0">
                <a:solidFill>
                  <a:schemeClr val="accent2"/>
                </a:solidFill>
                <a:latin typeface="UCL Sans" pitchFamily="2" charset="77"/>
              </a:rPr>
              <a:t>I’m pretty sure it can be used directly</a:t>
            </a:r>
          </a:p>
          <a:p>
            <a:pPr marL="800100" lvl="1" indent="-34290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ID" sz="1300" dirty="0">
              <a:latin typeface="UCL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07756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7F7FC-81EF-4201-6B17-CC88DBAF0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33EFDE-FD0D-5CE9-20BB-BA16DAD8D8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54138" y="421180"/>
            <a:ext cx="10070454" cy="775572"/>
          </a:xfrm>
        </p:spPr>
        <p:txBody>
          <a:bodyPr anchor="ctr" anchorCtr="0"/>
          <a:lstStyle/>
          <a:p>
            <a:pPr lvl="0"/>
            <a:r>
              <a:rPr lang="en-GB" dirty="0"/>
              <a:t>Dataset Preparation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798A5A4-E981-FEEA-9744-64DAACD2F477}"/>
              </a:ext>
            </a:extLst>
          </p:cNvPr>
          <p:cNvGrpSpPr/>
          <p:nvPr/>
        </p:nvGrpSpPr>
        <p:grpSpPr>
          <a:xfrm>
            <a:off x="1354138" y="1556792"/>
            <a:ext cx="10116246" cy="4608512"/>
            <a:chOff x="1487488" y="1196752"/>
            <a:chExt cx="10116246" cy="460851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806B064-7E84-98D5-2C6C-0258EAE62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487488" y="1196752"/>
              <a:ext cx="10116246" cy="4608512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EDFE0D8-D2B2-86EA-38C6-98F8D20FE5DA}"/>
                </a:ext>
              </a:extLst>
            </p:cNvPr>
            <p:cNvCxnSpPr>
              <a:cxnSpLocks/>
            </p:cNvCxnSpPr>
            <p:nvPr/>
          </p:nvCxnSpPr>
          <p:spPr>
            <a:xfrm>
              <a:off x="1703512" y="5589240"/>
              <a:ext cx="6264696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CEE4307-CF56-3055-87F2-A455533D4C4C}"/>
                </a:ext>
              </a:extLst>
            </p:cNvPr>
            <p:cNvCxnSpPr>
              <a:cxnSpLocks/>
            </p:cNvCxnSpPr>
            <p:nvPr/>
          </p:nvCxnSpPr>
          <p:spPr>
            <a:xfrm>
              <a:off x="1702800" y="4464000"/>
              <a:ext cx="6264696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62F0251-37BF-7F0C-8E5B-B08963B37E3A}"/>
                </a:ext>
              </a:extLst>
            </p:cNvPr>
            <p:cNvCxnSpPr>
              <a:cxnSpLocks/>
            </p:cNvCxnSpPr>
            <p:nvPr/>
          </p:nvCxnSpPr>
          <p:spPr>
            <a:xfrm>
              <a:off x="1702800" y="4032000"/>
              <a:ext cx="6264696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DFD3BED-542D-7123-F255-764C6FBC6B72}"/>
                </a:ext>
              </a:extLst>
            </p:cNvPr>
            <p:cNvCxnSpPr>
              <a:cxnSpLocks/>
            </p:cNvCxnSpPr>
            <p:nvPr/>
          </p:nvCxnSpPr>
          <p:spPr>
            <a:xfrm>
              <a:off x="1703512" y="3168000"/>
              <a:ext cx="6264696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80FD5D8-11F0-D1A2-098B-87242DEA1FF5}"/>
                </a:ext>
              </a:extLst>
            </p:cNvPr>
            <p:cNvCxnSpPr>
              <a:cxnSpLocks/>
            </p:cNvCxnSpPr>
            <p:nvPr/>
          </p:nvCxnSpPr>
          <p:spPr>
            <a:xfrm>
              <a:off x="1702800" y="3068960"/>
              <a:ext cx="3313080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A1DA5AA-30EE-A298-309A-905DA9F0D87F}"/>
                </a:ext>
              </a:extLst>
            </p:cNvPr>
            <p:cNvCxnSpPr>
              <a:cxnSpLocks/>
            </p:cNvCxnSpPr>
            <p:nvPr/>
          </p:nvCxnSpPr>
          <p:spPr>
            <a:xfrm>
              <a:off x="1702800" y="3240000"/>
              <a:ext cx="3313080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DDE5410-8A92-9A2C-0253-9DB244752451}"/>
                </a:ext>
              </a:extLst>
            </p:cNvPr>
            <p:cNvCxnSpPr>
              <a:cxnSpLocks/>
            </p:cNvCxnSpPr>
            <p:nvPr/>
          </p:nvCxnSpPr>
          <p:spPr>
            <a:xfrm>
              <a:off x="1702800" y="3933056"/>
              <a:ext cx="3313080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B0B1898-1D79-B5A1-B5B1-75C127E1A484}"/>
                </a:ext>
              </a:extLst>
            </p:cNvPr>
            <p:cNvCxnSpPr>
              <a:cxnSpLocks/>
            </p:cNvCxnSpPr>
            <p:nvPr/>
          </p:nvCxnSpPr>
          <p:spPr>
            <a:xfrm>
              <a:off x="1702800" y="4365104"/>
              <a:ext cx="3313080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5">
            <a:extLst>
              <a:ext uri="{FF2B5EF4-FFF2-40B4-BE49-F238E27FC236}">
                <a16:creationId xmlns:a16="http://schemas.microsoft.com/office/drawing/2014/main" id="{E4EA6857-D9EA-E071-6CFA-38E8F490A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138" y="1140080"/>
            <a:ext cx="1050250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  <a:t>Planned Features of aggregated dataset</a:t>
            </a:r>
          </a:p>
        </p:txBody>
      </p:sp>
    </p:spTree>
    <p:extLst>
      <p:ext uri="{BB962C8B-B14F-4D97-AF65-F5344CB8AC3E}">
        <p14:creationId xmlns:p14="http://schemas.microsoft.com/office/powerpoint/2010/main" val="3790315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FD0FE-87AB-93DF-D3B8-93577FE08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4A4D3C-2A04-0E9B-5005-C023B874C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54138" y="421180"/>
            <a:ext cx="10070454" cy="775572"/>
          </a:xfrm>
        </p:spPr>
        <p:txBody>
          <a:bodyPr anchor="ctr" anchorCtr="0"/>
          <a:lstStyle/>
          <a:p>
            <a:pPr lvl="0"/>
            <a:r>
              <a:rPr lang="en-GB" dirty="0"/>
              <a:t>Dataset Preparation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243296-AEBE-246E-BFD9-3AD66F1881B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54138" y="1628800"/>
            <a:ext cx="7772400" cy="4425326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38093D75-B3B1-2D01-E873-65450C163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138" y="1140080"/>
            <a:ext cx="1050250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  <a:t>An early version of consolidated dataset has been generated, testing to commence this week</a:t>
            </a:r>
          </a:p>
        </p:txBody>
      </p:sp>
    </p:spTree>
    <p:extLst>
      <p:ext uri="{BB962C8B-B14F-4D97-AF65-F5344CB8AC3E}">
        <p14:creationId xmlns:p14="http://schemas.microsoft.com/office/powerpoint/2010/main" val="3858430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26A8C-94CE-FA2A-B630-D83FBD25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4CDBC-2A78-D7B6-465A-30EF10C1F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54138" y="421180"/>
            <a:ext cx="10430493" cy="919588"/>
          </a:xfrm>
        </p:spPr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3F5BB17F-7100-D60A-5363-29313445B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139" y="1140080"/>
            <a:ext cx="9624392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UCL Sans" pitchFamily="2" charset="7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latin typeface="UCL Sans" pitchFamily="2" charset="77"/>
              </a:rPr>
              <a:t>1. Soil Moisture for Catchment 2 &amp; 4 only have data for 2017 (Data from EC GHG, SMS data seems fine). </a:t>
            </a:r>
            <a:r>
              <a:rPr lang="en-US" altLang="en-US" sz="1400" dirty="0">
                <a:solidFill>
                  <a:schemeClr val="accent2"/>
                </a:solidFill>
                <a:latin typeface="UCL Sans" pitchFamily="2" charset="77"/>
              </a:rPr>
              <a:t>This shouldn’t have an impact as we can infer data from Soil Moisture Station Data instead right?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UCL Sans" pitchFamily="2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CFF577-C363-B8BD-D2B9-330D3D69B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138" y="1916832"/>
            <a:ext cx="6192688" cy="4422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69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ACE03-761F-4A22-B1BD-AF0840FDF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AA2FC-9585-BEA8-01E5-FD1174A92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54138" y="421180"/>
            <a:ext cx="10430493" cy="919588"/>
          </a:xfrm>
        </p:spPr>
        <p:txBody>
          <a:bodyPr/>
          <a:lstStyle/>
          <a:p>
            <a:r>
              <a:rPr lang="en-US" dirty="0"/>
              <a:t>Notes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05C55EF-2D07-C845-81F1-DF8BA0008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139" y="1140080"/>
            <a:ext cx="9624392" cy="158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1300" dirty="0">
              <a:latin typeface="UCL Sans" pitchFamily="2" charset="77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1300" dirty="0">
                <a:latin typeface="UCL Sans" pitchFamily="2" charset="77"/>
              </a:rPr>
              <a:t>CO2 flux can be related to CH4, need to perform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  <a:t>Forecasting Granularity to be at hourly level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  <a:t>Only Relevant Catchments to be kept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  <a:t>Extrapolation from tower to field level measurement not important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57337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C6A1121-BB9D-CAD8-BECB-6620C8045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DE3E34-7814-E595-028D-618271BAA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54138" y="421180"/>
            <a:ext cx="7838205" cy="775572"/>
          </a:xfrm>
        </p:spPr>
        <p:txBody>
          <a:bodyPr/>
          <a:lstStyle/>
          <a:p>
            <a:pPr lvl="0"/>
            <a:r>
              <a:rPr lang="en-GB" dirty="0"/>
              <a:t>Quick Progress Update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94424C3-59C3-5118-EBEA-B9BA5E25E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139" y="1140080"/>
            <a:ext cx="9926438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08000" rIns="91440" bIns="10800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UCL Sans" pitchFamily="2" charset="77"/>
              </a:rPr>
              <a:t>Data</a:t>
            </a:r>
            <a:r>
              <a:rPr lang="en-US" altLang="en-US" sz="1400" dirty="0">
                <a:latin typeface="UCL Sans" pitchFamily="2" charset="77"/>
              </a:rPr>
              <a:t> has been downloaded and compiled across timeframes (2017 – 2024) for all catchments.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UCL Sans" pitchFamily="2" charset="77"/>
              </a:rPr>
              <a:t>All data has been downloaded and compiled, but expected useful ones:</a:t>
            </a:r>
            <a:br>
              <a:rPr lang="en-US" altLang="en-US" sz="1400" dirty="0">
                <a:latin typeface="UCL Sans" pitchFamily="2" charset="77"/>
              </a:rPr>
            </a:br>
            <a:r>
              <a:rPr lang="en-US" altLang="en-US" sz="1400" dirty="0">
                <a:latin typeface="UCL Sans" pitchFamily="2" charset="77"/>
              </a:rPr>
              <a:t>{meteorological &amp; soil moisture measurements, GHG EC data, field events data}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UCL Sans" pitchFamily="2" charset="77"/>
              </a:rPr>
              <a:t>At the moment, all catchments are kept, though EC sensors are only at 2, 4, and 9 (EDA so far is only for relevant catchments)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solidFill>
                  <a:srgbClr val="212121"/>
                </a:solidFill>
                <a:latin typeface="UCL Sans" pitchFamily="2" charset="77"/>
              </a:rPr>
              <a:t>Early Exploratory Data Analysis is being done, so far: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212121"/>
                </a:solidFill>
                <a:latin typeface="UCL Sans" pitchFamily="2" charset="77"/>
              </a:rPr>
              <a:t>EC GHG data has massive gaps (approx. 55 – 87% missing for CH4 across towers)</a:t>
            </a:r>
          </a:p>
          <a:p>
            <a:pPr marL="1257300" lvl="2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212121"/>
                </a:solidFill>
                <a:latin typeface="UCL Sans" pitchFamily="2" charset="77"/>
              </a:rPr>
              <a:t>Tower 2 in particular only have 1-year data available</a:t>
            </a:r>
          </a:p>
          <a:p>
            <a:pPr marL="1257300" lvl="2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212121"/>
                </a:solidFill>
                <a:latin typeface="UCL Sans" pitchFamily="2" charset="77"/>
              </a:rPr>
              <a:t>Towers 4 and 9 are more manageable. Still requires study on gap filling, however.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212121"/>
                </a:solidFill>
                <a:highlight>
                  <a:srgbClr val="FFFF00"/>
                </a:highlight>
                <a:latin typeface="UCL Sans" pitchFamily="2" charset="77"/>
              </a:rPr>
              <a:t>Meteorological &amp; soil moisture measurements also have significant gaps, though still require further analysis.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212121"/>
                </a:solidFill>
                <a:highlight>
                  <a:srgbClr val="FFFF00"/>
                </a:highlight>
                <a:latin typeface="UCL Sans" pitchFamily="2" charset="77"/>
              </a:rPr>
              <a:t>Field Events and Livestock are still being explored, number of livestock per catchment and its feed might be useful.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highlight>
                  <a:srgbClr val="FFFF00"/>
                </a:highlight>
                <a:latin typeface="UCL Sans" pitchFamily="2" charset="77"/>
              </a:rPr>
              <a:t>Gap Filling approaches and FCH</a:t>
            </a:r>
            <a:r>
              <a:rPr lang="en-US" altLang="en-US" sz="1400" baseline="-25000" dirty="0">
                <a:highlight>
                  <a:srgbClr val="FFFF00"/>
                </a:highlight>
                <a:latin typeface="UCL Sans" pitchFamily="2" charset="77"/>
              </a:rPr>
              <a:t>4</a:t>
            </a:r>
            <a:r>
              <a:rPr lang="en-US" altLang="en-US" sz="1400" dirty="0">
                <a:highlight>
                  <a:srgbClr val="FFFF00"/>
                </a:highlight>
                <a:latin typeface="UCL Sans" pitchFamily="2" charset="77"/>
              </a:rPr>
              <a:t> drivers are being explored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highlight>
                  <a:srgbClr val="FFFF00"/>
                </a:highlight>
                <a:latin typeface="UCL Sans" pitchFamily="2" charset="77"/>
              </a:rPr>
              <a:t>Most likely, methodology will be MDS, RFR &amp; XGB as it is most effective (Zhu. S, et al. 2023)</a:t>
            </a:r>
          </a:p>
        </p:txBody>
      </p:sp>
    </p:spTree>
    <p:extLst>
      <p:ext uri="{BB962C8B-B14F-4D97-AF65-F5344CB8AC3E}">
        <p14:creationId xmlns:p14="http://schemas.microsoft.com/office/powerpoint/2010/main" val="2440248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1336955-876C-03EC-6F48-4F07267A6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19D062-52D1-8B34-E3B1-95815B0AB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rPr lang="en-GB" dirty="0"/>
              <a:t>Full Timeline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19ECEE-0980-CF70-95A8-B6C18BE28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921" y="1124743"/>
            <a:ext cx="10400712" cy="54708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896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D2925C8-38C6-6BE9-21F5-35E95897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01F6E5-5274-D287-27BE-C50B305D1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rPr lang="en-GB" dirty="0"/>
              <a:t>Full Timeline</a:t>
            </a:r>
          </a:p>
          <a:p>
            <a:endParaRPr lang="en-US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5E38E0A2-F167-EB52-0844-E6B45C095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139" y="1140080"/>
            <a:ext cx="9624392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Data Completeness and EDA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[May 18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- June 7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]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Outcome: Prepared Dataset for AI &amp; ML Prediction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Watchouts: Gaps in EC and Testing with Gap-Filing approaches as suggested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Forecasting Models Testing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[June 1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st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- 21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st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]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(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ptos" panose="020B0004020202020204" pitchFamily="34" charset="0"/>
              </a:rPr>
              <a:t>Granularity: Catchment – Date – Hour (?)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)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Outcome: Tabular analysis containing individual model performance &amp; training time and pre-trained models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Models to be tested: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Baseline : Seasonal Mean, ARIMA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Traditional ML : Random Forest, Gradient Boosting,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XGBoost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Deep Learning : RNN, LSTM, TFT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Watchouts: 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CV methodology to be tested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Feature engineering for time series forecasting to be tested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</a:b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Interpretability &amp; UC Component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[June 4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- Jul 4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]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Outcome: Feature Importance and Prediction Intervals for each models (or perhaps the best model)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Required Reading 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Quantile Machine Learning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Prediction &amp; Confidence Intervals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Digital Shadow Component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[June 26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- Aug 16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]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Outcome: Frontend Component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Streamlit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or similar web applications)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Watchouts: 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Expected to be time consuming due to number of scenarios and generation of frontend elements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Report Writing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[Jul 14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- Aug 31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st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]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with Final Revisions between Aug 18th to 31st  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316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1A107A-A714-4D82-6582-5DE136ADA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54138" y="421180"/>
            <a:ext cx="5965997" cy="780455"/>
          </a:xfrm>
        </p:spPr>
        <p:txBody>
          <a:bodyPr/>
          <a:lstStyle/>
          <a:p>
            <a:pPr lvl="0"/>
            <a:r>
              <a:rPr lang="en-GB" dirty="0"/>
              <a:t>Current Priorities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A464F3-E8B1-F468-89DE-CDC190465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139" y="1201635"/>
            <a:ext cx="10298638" cy="46036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90B310F0-0E90-0375-40E2-8ECD95B43D8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519937" y="3922907"/>
            <a:ext cx="5430657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1.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Data Completeness and EDA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[May 18</a:t>
            </a:r>
            <a:r>
              <a:rPr kumimoji="0" lang="en-US" altLang="en-US" sz="12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- June 7</a:t>
            </a:r>
            <a:r>
              <a:rPr kumimoji="0" lang="en-US" altLang="en-US" sz="12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]</a:t>
            </a:r>
            <a:endParaRPr lang="en-US" altLang="en-US" sz="1200" dirty="0">
              <a:solidFill>
                <a:srgbClr val="212121"/>
              </a:solidFill>
            </a:endParaRPr>
          </a:p>
          <a:p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Outcome: Prepared Dataset for AI &amp; ML Prediction</a:t>
            </a:r>
          </a:p>
          <a:p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Watchouts: Gaps in EC and Testing with Gap-Filing approaches as suggested</a:t>
            </a:r>
          </a:p>
          <a:p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C5D05BFE-FAFE-44A9-97D2-0D1391A37CB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519936" y="4881933"/>
            <a:ext cx="5430656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r>
              <a:rPr lang="en-US" altLang="en-US" sz="1200" b="1" dirty="0">
                <a:solidFill>
                  <a:srgbClr val="000000"/>
                </a:solidFill>
              </a:rPr>
              <a:t>2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.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ML forecastin</a:t>
            </a:r>
            <a:r>
              <a:rPr lang="en-US" altLang="en-US" sz="1200" dirty="0">
                <a:solidFill>
                  <a:srgbClr val="000000"/>
                </a:solidFill>
              </a:rPr>
              <a:t>g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models testing to start at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June 1</a:t>
            </a:r>
            <a:r>
              <a:rPr kumimoji="0" lang="en-US" altLang="en-US" sz="12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– 21</a:t>
            </a:r>
            <a:r>
              <a:rPr kumimoji="0" lang="en-US" altLang="en-US" sz="1200" b="1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in parallel once dataset is ready</a:t>
            </a:r>
          </a:p>
          <a:p>
            <a:r>
              <a:rPr lang="en-US" altLang="en-US" sz="1200" dirty="0">
                <a:solidFill>
                  <a:srgbClr val="000000"/>
                </a:solidFill>
                <a:sym typeface="Wingdings" pitchFamily="2" charset="2"/>
              </a:rPr>
              <a:t> </a:t>
            </a:r>
            <a:r>
              <a:rPr lang="en-US" altLang="en-US" sz="1200" dirty="0">
                <a:solidFill>
                  <a:srgbClr val="000000"/>
                </a:solidFill>
              </a:rPr>
              <a:t>Granularity is still uncertain, could be hourly or daily</a:t>
            </a:r>
            <a:endParaRPr lang="en-US" altLang="en-US" sz="1200" dirty="0">
              <a:solidFill>
                <a:srgbClr val="212121"/>
              </a:solidFill>
            </a:endParaRPr>
          </a:p>
          <a:p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5FF64B-9075-3686-3C34-866F24B34DC7}"/>
              </a:ext>
            </a:extLst>
          </p:cNvPr>
          <p:cNvSpPr/>
          <p:nvPr/>
        </p:nvSpPr>
        <p:spPr>
          <a:xfrm>
            <a:off x="1775520" y="2420888"/>
            <a:ext cx="5616624" cy="54926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804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E90006F-BF1A-80DD-258B-7C49DF854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4CA28-D4CB-07A4-0636-53C1E9515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54138" y="421180"/>
            <a:ext cx="10430493" cy="919588"/>
          </a:xfrm>
        </p:spPr>
        <p:txBody>
          <a:bodyPr/>
          <a:lstStyle/>
          <a:p>
            <a:r>
              <a:rPr lang="en-US" dirty="0"/>
              <a:t>Early EDA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C03D66E1-2089-DDBE-8753-1EEE1C4EB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138" y="1140080"/>
            <a:ext cx="1050250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UCL Sans" pitchFamily="2" charset="77"/>
              </a:rPr>
              <a:t>1. EC Greenhouse Gas has significant gaps for CH4 with &lt;= 50% completeness in average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UCL Sans" pitchFamily="2" charset="77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2B05E3B-567E-5D0A-5EAF-2C3EA069E1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136"/>
          <a:stretch>
            <a:fillRect/>
          </a:stretch>
        </p:blipFill>
        <p:spPr>
          <a:xfrm>
            <a:off x="1354138" y="1499620"/>
            <a:ext cx="5472608" cy="49203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A1F6108-8328-2ABF-251E-A91C0DB93C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9978"/>
          <a:stretch>
            <a:fillRect/>
          </a:stretch>
        </p:blipFill>
        <p:spPr>
          <a:xfrm>
            <a:off x="7032104" y="1499620"/>
            <a:ext cx="4248472" cy="30294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5">
            <a:extLst>
              <a:ext uri="{FF2B5EF4-FFF2-40B4-BE49-F238E27FC236}">
                <a16:creationId xmlns:a16="http://schemas.microsoft.com/office/drawing/2014/main" id="{5D027E8A-15D1-6271-7BE9-ADE29EFB1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104" y="4611631"/>
            <a:ext cx="4248472" cy="18083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  <a:t>All </a:t>
            </a:r>
            <a:r>
              <a:rPr lang="en-US" altLang="en-US" sz="1200" dirty="0">
                <a:latin typeface="UCL Sans" pitchFamily="2" charset="77"/>
              </a:rPr>
              <a:t>EC 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  <a:t>owers require gap filling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200" dirty="0">
              <a:latin typeface="UCL Sans" pitchFamily="2" charset="77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  <a:t>Outliers exist, can be filtered out via “</a:t>
            </a:r>
            <a:r>
              <a:rPr lang="en-ID" sz="1200" dirty="0">
                <a:latin typeface="UCL Sans" pitchFamily="2" charset="77"/>
              </a:rPr>
              <a:t>FCH4_SSITC_TEST_1_1_1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  <a:t>”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200" dirty="0">
              <a:latin typeface="UCL Sans" pitchFamily="2" charset="77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  <a:t>Tower 2 (Red) especially worrisome due to only having 1-year usable data.</a:t>
            </a:r>
          </a:p>
          <a:p>
            <a:pPr marL="358775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200" dirty="0">
                <a:solidFill>
                  <a:schemeClr val="accent2"/>
                </a:solidFill>
                <a:latin typeface="UCL Sans" pitchFamily="2" charset="77"/>
                <a:sym typeface="Wingdings" pitchFamily="2" charset="2"/>
              </a:rPr>
              <a:t>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UCL Sans" pitchFamily="2" charset="77"/>
              </a:rPr>
              <a:t> Model treatment might be evaluation by year quarters in 2018 alone?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DFDE73-D23C-AD58-0FEE-D49DDCF6E32F}"/>
              </a:ext>
            </a:extLst>
          </p:cNvPr>
          <p:cNvSpPr/>
          <p:nvPr/>
        </p:nvSpPr>
        <p:spPr>
          <a:xfrm>
            <a:off x="2207568" y="2518668"/>
            <a:ext cx="432048" cy="622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10F522-DEA7-F775-D4D9-5A49F06094CD}"/>
              </a:ext>
            </a:extLst>
          </p:cNvPr>
          <p:cNvSpPr/>
          <p:nvPr/>
        </p:nvSpPr>
        <p:spPr>
          <a:xfrm>
            <a:off x="6353360" y="4149080"/>
            <a:ext cx="432048" cy="6191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251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8A2E23F-2577-77B2-A3C2-18111D8B3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90AF6-69F1-4558-1432-36E66A9DEF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54138" y="421180"/>
            <a:ext cx="10430493" cy="919588"/>
          </a:xfrm>
        </p:spPr>
        <p:txBody>
          <a:bodyPr/>
          <a:lstStyle/>
          <a:p>
            <a:r>
              <a:rPr lang="en-US" dirty="0"/>
              <a:t>Early EDA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F8CFF585-4806-F9D5-2718-68C7E9C11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138" y="1140080"/>
            <a:ext cx="10502501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UCL Sans" pitchFamily="2" charset="77"/>
              </a:rPr>
              <a:t>2. Meteorological Data Completeness </a:t>
            </a:r>
            <a:r>
              <a:rPr lang="en-US" altLang="en-US" dirty="0">
                <a:solidFill>
                  <a:schemeClr val="accent2"/>
                </a:solidFill>
                <a:latin typeface="UCL Sans" pitchFamily="2" charset="77"/>
              </a:rPr>
              <a:t>&lt;potential drivers still being explored&gt;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  <a:t>Available data: {flow, pump, water temperature, nitrite and nitrate, ammonia, ammonium, conductivity, dissolved oxygen, pH, water te</a:t>
            </a:r>
            <a:r>
              <a:rPr lang="en-US" altLang="en-US" sz="1200" dirty="0">
                <a:latin typeface="UCL Sans" pitchFamily="2" charset="77"/>
              </a:rPr>
              <a:t>mperature flow cell, turbidity, fluorescent dissolved organic matter, phosphorus, </a:t>
            </a:r>
            <a:r>
              <a:rPr lang="en-US" altLang="en-US" sz="1200" dirty="0">
                <a:solidFill>
                  <a:schemeClr val="accent2"/>
                </a:solidFill>
                <a:latin typeface="UCL Sans" pitchFamily="2" charset="77"/>
              </a:rPr>
              <a:t>precipitation, soil temperature</a:t>
            </a:r>
            <a:r>
              <a:rPr lang="en-US" altLang="en-US" sz="1200" dirty="0">
                <a:latin typeface="UCL Sans" pitchFamily="2" charset="77"/>
              </a:rPr>
              <a:t>, and </a:t>
            </a:r>
            <a:r>
              <a:rPr lang="en-US" altLang="en-US" sz="1200" dirty="0">
                <a:solidFill>
                  <a:schemeClr val="accent2"/>
                </a:solidFill>
                <a:latin typeface="UCL Sans" pitchFamily="2" charset="77"/>
              </a:rPr>
              <a:t>soil moisture</a:t>
            </a:r>
            <a:r>
              <a:rPr lang="en-US" altLang="en-US" sz="1200" dirty="0">
                <a:latin typeface="UCL Sans" pitchFamily="2" charset="77"/>
              </a:rPr>
              <a:t>}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UCL Sans" pitchFamily="2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D27E1B-53E5-3574-E70B-50105AD60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472" y="2186885"/>
            <a:ext cx="10502500" cy="42769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07493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8B75C1B-555C-E67B-2EC0-2F57051C4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031C4-DCFC-1D62-81CB-8DEFAFF64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54138" y="421180"/>
            <a:ext cx="10430493" cy="919588"/>
          </a:xfrm>
        </p:spPr>
        <p:txBody>
          <a:bodyPr/>
          <a:lstStyle/>
          <a:p>
            <a:r>
              <a:rPr lang="en-US" dirty="0"/>
              <a:t>Early EDA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9F719674-34CE-0576-346A-AAE2EF47C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138" y="1140080"/>
            <a:ext cx="1050250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UCL Sans" pitchFamily="2" charset="77"/>
              </a:rPr>
              <a:t>3. Field Data &lt;WIP&gt;</a:t>
            </a:r>
            <a:endParaRPr lang="en-US" altLang="en-US" dirty="0">
              <a:solidFill>
                <a:schemeClr val="accent2"/>
              </a:solidFill>
              <a:latin typeface="UCL Sans" pitchFamily="2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949FD8-AFC3-EE3C-114D-2D063AE6C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138" y="1502671"/>
            <a:ext cx="10023798" cy="35105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3388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5AD577E-6C92-EAE5-7D30-531C8BEDA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0243E-2CB8-9F67-A0B2-069367EF28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54138" y="421180"/>
            <a:ext cx="10430493" cy="919588"/>
          </a:xfrm>
        </p:spPr>
        <p:txBody>
          <a:bodyPr/>
          <a:lstStyle/>
          <a:p>
            <a:r>
              <a:rPr lang="en-US" dirty="0"/>
              <a:t>Performed Reading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3D919EF-A96E-F0D2-9BE8-DC0A542E8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139" y="1140080"/>
            <a:ext cx="9624392" cy="5309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en-ID" sz="1300" dirty="0">
                <a:latin typeface="UCL Sans" pitchFamily="2" charset="77"/>
              </a:rPr>
              <a:t>Zhu, S., McCalmont, J., Cardenas, L. M., Cunliffe, A. M., Olde, L., </a:t>
            </a:r>
            <a:r>
              <a:rPr lang="en-ID" sz="1300" dirty="0" err="1">
                <a:latin typeface="UCL Sans" pitchFamily="2" charset="77"/>
              </a:rPr>
              <a:t>Signori</a:t>
            </a:r>
            <a:r>
              <a:rPr lang="en-ID" sz="1300" dirty="0">
                <a:latin typeface="UCL Sans" pitchFamily="2" charset="77"/>
              </a:rPr>
              <a:t>-Müller, C., Litvak, M. E., &amp; Hill, T. (2023). Gap-filling carbon dioxide, water, energy, and methane fluxes in challenging ecosystems: Comparing between methods, drivers, and gap-lengths. </a:t>
            </a:r>
          </a:p>
          <a:p>
            <a:pPr marL="800100" lvl="1" indent="-34290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300" dirty="0">
                <a:latin typeface="UCL Sans" pitchFamily="2" charset="77"/>
              </a:rPr>
              <a:t>This paper highlights </a:t>
            </a:r>
            <a:r>
              <a:rPr lang="en-ID" sz="1300" b="1" dirty="0">
                <a:solidFill>
                  <a:schemeClr val="accent2"/>
                </a:solidFill>
                <a:latin typeface="UCL Sans" pitchFamily="2" charset="77"/>
              </a:rPr>
              <a:t>critical methodologies for gap filling. In particular, </a:t>
            </a:r>
            <a:r>
              <a:rPr lang="en-ID" sz="1300" b="1" dirty="0" err="1">
                <a:solidFill>
                  <a:schemeClr val="accent2"/>
                </a:solidFill>
                <a:latin typeface="UCL Sans" pitchFamily="2" charset="77"/>
              </a:rPr>
              <a:t>RFRm</a:t>
            </a:r>
            <a:r>
              <a:rPr lang="en-ID" sz="1300" b="1" dirty="0">
                <a:solidFill>
                  <a:schemeClr val="accent2"/>
                </a:solidFill>
                <a:latin typeface="UCL Sans" pitchFamily="2" charset="77"/>
              </a:rPr>
              <a:t> outperforms all other models</a:t>
            </a:r>
          </a:p>
          <a:p>
            <a:pPr marL="800100" lvl="1" indent="-34290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300" dirty="0" err="1">
                <a:latin typeface="UCL Sans" pitchFamily="2" charset="77"/>
              </a:rPr>
              <a:t>RFRm</a:t>
            </a:r>
            <a:r>
              <a:rPr lang="en-ID" sz="1300" dirty="0">
                <a:latin typeface="UCL Sans" pitchFamily="2" charset="77"/>
              </a:rPr>
              <a:t> uses multiple drivers (such as wind speed, net radiation, soil temperature, etc) but are mostly dominated by </a:t>
            </a:r>
            <a:r>
              <a:rPr lang="en-ID" sz="1300" dirty="0">
                <a:solidFill>
                  <a:schemeClr val="accent2"/>
                </a:solidFill>
                <a:latin typeface="UCL Sans" pitchFamily="2" charset="77"/>
              </a:rPr>
              <a:t>wind speed (WS)</a:t>
            </a:r>
            <a:r>
              <a:rPr lang="en-ID" sz="1300" dirty="0">
                <a:latin typeface="UCL Sans" pitchFamily="2" charset="77"/>
              </a:rPr>
              <a:t>, followed by </a:t>
            </a:r>
            <a:r>
              <a:rPr lang="en-ID" sz="1300" dirty="0">
                <a:solidFill>
                  <a:schemeClr val="accent2"/>
                </a:solidFill>
                <a:latin typeface="UCL Sans" pitchFamily="2" charset="77"/>
              </a:rPr>
              <a:t>auxiliary drivers (AUX)</a:t>
            </a:r>
            <a:r>
              <a:rPr lang="en-ID" sz="1300" dirty="0">
                <a:latin typeface="UCL Sans" pitchFamily="2" charset="77"/>
              </a:rPr>
              <a:t>, and </a:t>
            </a:r>
            <a:r>
              <a:rPr lang="en-ID" sz="1300" dirty="0">
                <a:solidFill>
                  <a:schemeClr val="accent2"/>
                </a:solidFill>
                <a:latin typeface="UCL Sans" pitchFamily="2" charset="77"/>
              </a:rPr>
              <a:t>other environmental features (OEF)</a:t>
            </a:r>
            <a:r>
              <a:rPr lang="en-ID" sz="1300" dirty="0">
                <a:latin typeface="UCL Sans" pitchFamily="2" charset="77"/>
              </a:rPr>
              <a:t>.</a:t>
            </a:r>
          </a:p>
          <a:p>
            <a:pPr marL="800100" lvl="1" indent="-34290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300" dirty="0">
                <a:latin typeface="UCL Sans" pitchFamily="2" charset="77"/>
              </a:rPr>
              <a:t>However, performance from R</a:t>
            </a:r>
            <a:r>
              <a:rPr lang="en-ID" sz="1300" baseline="30000" dirty="0">
                <a:latin typeface="UCL Sans" pitchFamily="2" charset="77"/>
              </a:rPr>
              <a:t>2 </a:t>
            </a:r>
            <a:r>
              <a:rPr lang="en-ID" sz="1300" dirty="0">
                <a:latin typeface="UCL Sans" pitchFamily="2" charset="77"/>
              </a:rPr>
              <a:t>is &lt; 0.1 for all models </a:t>
            </a:r>
            <a:r>
              <a:rPr lang="en-ID" sz="1300" dirty="0" err="1">
                <a:latin typeface="UCL Sans" pitchFamily="2" charset="77"/>
              </a:rPr>
              <a:t>i.r.t</a:t>
            </a:r>
            <a:r>
              <a:rPr lang="en-ID" sz="1300" dirty="0">
                <a:latin typeface="UCL Sans" pitchFamily="2" charset="77"/>
              </a:rPr>
              <a:t> FCH</a:t>
            </a:r>
            <a:r>
              <a:rPr lang="en-ID" sz="1300" baseline="-25000" dirty="0">
                <a:latin typeface="UCL Sans" pitchFamily="2" charset="77"/>
              </a:rPr>
              <a:t>4</a:t>
            </a:r>
            <a:r>
              <a:rPr lang="en-ID" sz="1300" dirty="0">
                <a:latin typeface="UCL Sans" pitchFamily="2" charset="77"/>
              </a:rPr>
              <a:t>, highlighting the challenge of this task</a:t>
            </a:r>
          </a:p>
          <a:p>
            <a:pPr marL="342900" indent="-342900" algn="just"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en-ID" sz="1300" strike="sngStrike" dirty="0">
                <a:latin typeface="UCL Sans" pitchFamily="2" charset="77"/>
              </a:rPr>
              <a:t>Zhu, S., Olde, L., Lewis, K., Quaife, T., Cardenas, L., </a:t>
            </a:r>
            <a:r>
              <a:rPr lang="en-ID" sz="1300" strike="sngStrike" dirty="0" err="1">
                <a:latin typeface="UCL Sans" pitchFamily="2" charset="77"/>
              </a:rPr>
              <a:t>Loick</a:t>
            </a:r>
            <a:r>
              <a:rPr lang="en-ID" sz="1300" strike="sngStrike" dirty="0">
                <a:latin typeface="UCL Sans" pitchFamily="2" charset="77"/>
              </a:rPr>
              <a:t>, N., Xu, J., &amp; Hill, T. (2023). Eddy covariance fluxes over managed ecosystems extrapolated to field scales at fine spatial resolutions. </a:t>
            </a:r>
          </a:p>
          <a:p>
            <a:pPr marL="800100" lvl="1" indent="-34290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300" strike="sngStrike" dirty="0">
                <a:latin typeface="UCL Sans" pitchFamily="2" charset="77"/>
              </a:rPr>
              <a:t>Paper highlights the use of satellite imagery to extrapolate EC data (not FCH</a:t>
            </a:r>
            <a:r>
              <a:rPr lang="en-ID" sz="1300" strike="sngStrike" baseline="-25000" dirty="0">
                <a:latin typeface="UCL Sans" pitchFamily="2" charset="77"/>
              </a:rPr>
              <a:t>4</a:t>
            </a:r>
            <a:r>
              <a:rPr lang="en-ID" sz="1300" strike="sngStrike" dirty="0">
                <a:latin typeface="UCL Sans" pitchFamily="2" charset="77"/>
              </a:rPr>
              <a:t> though) from tower level to field level with </a:t>
            </a:r>
            <a:r>
              <a:rPr lang="en-ID" sz="1300" strike="sngStrike" dirty="0" err="1">
                <a:latin typeface="UCL Sans" pitchFamily="2" charset="77"/>
              </a:rPr>
              <a:t>XGBoost</a:t>
            </a:r>
            <a:endParaRPr lang="en-ID" sz="1300" strike="sngStrike" dirty="0">
              <a:latin typeface="UCL Sans" pitchFamily="2" charset="77"/>
            </a:endParaRPr>
          </a:p>
          <a:p>
            <a:pPr marL="800100" lvl="1" indent="-34290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300" strike="sngStrike" dirty="0">
                <a:latin typeface="UCL Sans" pitchFamily="2" charset="77"/>
              </a:rPr>
              <a:t>Notably, the paper highlights farm management activities as a key unresolved challenge that causes abrupt and unanticipated changes to flux</a:t>
            </a:r>
          </a:p>
          <a:p>
            <a:pPr marL="800100" lvl="1" indent="-34290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300" strike="sngStrike" dirty="0">
                <a:solidFill>
                  <a:schemeClr val="accent2"/>
                </a:solidFill>
                <a:latin typeface="UCL Sans" pitchFamily="2" charset="77"/>
              </a:rPr>
              <a:t>Is extrapolation from tower to field level a required step at this stage however?</a:t>
            </a:r>
            <a:endParaRPr lang="en-ID" sz="1200" strike="sngStrike" dirty="0">
              <a:latin typeface="UCL Sans" pitchFamily="2" charset="77"/>
            </a:endParaRPr>
          </a:p>
          <a:p>
            <a:pPr marL="342900" indent="-342900" algn="just"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en-ID" sz="1300" dirty="0">
                <a:latin typeface="UCL Sans" pitchFamily="2" charset="77"/>
              </a:rPr>
              <a:t>Cardenas, L. M., Olde, L., </a:t>
            </a:r>
            <a:r>
              <a:rPr lang="en-ID" sz="1300" dirty="0" err="1">
                <a:latin typeface="UCL Sans" pitchFamily="2" charset="77"/>
              </a:rPr>
              <a:t>Loick</a:t>
            </a:r>
            <a:r>
              <a:rPr lang="en-ID" sz="1300" dirty="0">
                <a:latin typeface="UCL Sans" pitchFamily="2" charset="77"/>
              </a:rPr>
              <a:t>, N., Griffith, B., Hill, T., Evans, J., Cowan, N., Segura, C., Sint, H., Harris, P., McCalmont, J., Zhu, S., Dobermann, A., &amp; Lee, M. R. F. (2022). CO2 fluxes from three different temperate grazed pastures using Eddy covariance measurements. </a:t>
            </a:r>
          </a:p>
          <a:p>
            <a:pPr marL="800100" lvl="1" indent="-34290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300" dirty="0">
                <a:latin typeface="UCL Sans" pitchFamily="2" charset="77"/>
              </a:rPr>
              <a:t>Paper outlines relationship between </a:t>
            </a:r>
            <a:r>
              <a:rPr lang="en-ID" sz="1300" dirty="0">
                <a:solidFill>
                  <a:schemeClr val="accent2"/>
                </a:solidFill>
                <a:latin typeface="UCL Sans" pitchFamily="2" charset="77"/>
              </a:rPr>
              <a:t>pasture type </a:t>
            </a:r>
            <a:r>
              <a:rPr lang="en-ID" sz="1300" dirty="0">
                <a:latin typeface="UCL Sans" pitchFamily="2" charset="77"/>
              </a:rPr>
              <a:t>and </a:t>
            </a:r>
            <a:r>
              <a:rPr lang="en-ID" sz="1300" dirty="0">
                <a:solidFill>
                  <a:schemeClr val="accent2"/>
                </a:solidFill>
                <a:latin typeface="UCL Sans" pitchFamily="2" charset="77"/>
              </a:rPr>
              <a:t>time of the year </a:t>
            </a:r>
            <a:r>
              <a:rPr lang="en-ID" sz="1300" dirty="0">
                <a:latin typeface="UCL Sans" pitchFamily="2" charset="77"/>
              </a:rPr>
              <a:t>in predicting eddy covariance fluxes. Other drivers mentioned: soil water content, soil temperature, PPFD, day length, grazing intensity, etc</a:t>
            </a:r>
          </a:p>
          <a:p>
            <a:pPr marL="800100" lvl="1" indent="-34290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300" dirty="0">
                <a:latin typeface="UCL Sans" pitchFamily="2" charset="77"/>
              </a:rPr>
              <a:t>Also outlined the site level data processing of raw EC data with </a:t>
            </a:r>
            <a:r>
              <a:rPr lang="en-ID" sz="1300" dirty="0" err="1">
                <a:solidFill>
                  <a:schemeClr val="accent2"/>
                </a:solidFill>
                <a:latin typeface="UCL Sans" pitchFamily="2" charset="77"/>
              </a:rPr>
              <a:t>EddyPro</a:t>
            </a:r>
            <a:r>
              <a:rPr lang="en-ID" sz="1300" dirty="0">
                <a:latin typeface="UCL Sans" pitchFamily="2" charset="77"/>
              </a:rPr>
              <a:t> and </a:t>
            </a:r>
            <a:r>
              <a:rPr lang="en-ID" sz="1300" dirty="0">
                <a:solidFill>
                  <a:schemeClr val="accent2"/>
                </a:solidFill>
                <a:latin typeface="UCL Sans" pitchFamily="2" charset="77"/>
              </a:rPr>
              <a:t>Tovi</a:t>
            </a:r>
          </a:p>
          <a:p>
            <a:pPr marL="800100" lvl="1" indent="-34290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300" dirty="0">
                <a:latin typeface="UCL Sans" pitchFamily="2" charset="77"/>
              </a:rPr>
              <a:t>A statistical modelling approach with daily gaussian model</a:t>
            </a:r>
          </a:p>
          <a:p>
            <a:pPr lvl="1" algn="just">
              <a:spcBef>
                <a:spcPts val="0"/>
              </a:spcBef>
              <a:spcAft>
                <a:spcPts val="600"/>
              </a:spcAft>
            </a:pPr>
            <a:endParaRPr lang="en-ID" sz="1200" dirty="0">
              <a:latin typeface="UCL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60770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1F6CD66-EC99-A5E0-0CEE-0D2B5C4F3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FC3A7-66C3-B64C-ADF7-1E7AB948F8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54138" y="421180"/>
            <a:ext cx="10430493" cy="919588"/>
          </a:xfrm>
        </p:spPr>
        <p:txBody>
          <a:bodyPr/>
          <a:lstStyle/>
          <a:p>
            <a:r>
              <a:rPr lang="en-US" dirty="0"/>
              <a:t>Questions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645C1A-F9C6-EB99-51F2-A39C9D9794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5340"/>
          <a:stretch>
            <a:fillRect/>
          </a:stretch>
        </p:blipFill>
        <p:spPr>
          <a:xfrm>
            <a:off x="1353192" y="1772816"/>
            <a:ext cx="9607892" cy="38164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4859DD-C58C-F273-96D2-EA8A57C1174F}"/>
              </a:ext>
            </a:extLst>
          </p:cNvPr>
          <p:cNvSpPr/>
          <p:nvPr/>
        </p:nvSpPr>
        <p:spPr>
          <a:xfrm>
            <a:off x="1487488" y="2351423"/>
            <a:ext cx="9351320" cy="2134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59F487A-C5D9-DA2B-2482-5C5F6AE1C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139" y="1140080"/>
            <a:ext cx="96243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  <a:t>1. Target Variable? Which matters more? FCH4 or CH4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  <a:t>(Figure from data guide)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UCL Sans" pitchFamily="2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4B0E14-ECF2-7EEE-6482-561153766725}"/>
              </a:ext>
            </a:extLst>
          </p:cNvPr>
          <p:cNvSpPr/>
          <p:nvPr/>
        </p:nvSpPr>
        <p:spPr>
          <a:xfrm>
            <a:off x="1487488" y="3503552"/>
            <a:ext cx="9351320" cy="2134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96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0C55E9D-8DFC-D1B1-C631-15050F55F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ED4A2-C1AD-FF20-C77F-5775402824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54138" y="421180"/>
            <a:ext cx="10430493" cy="919588"/>
          </a:xfrm>
        </p:spPr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52CC8F1-3983-0DD6-0D7E-20B471E2E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139" y="1140080"/>
            <a:ext cx="9624392" cy="4216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latin typeface="UCL Sans" pitchFamily="2" charset="77"/>
              </a:rPr>
              <a:t>2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  <a:t>. Gaps in the dataset needs to be handled critically. Method of handling it seems to be gap filling via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UCL Sans" pitchFamily="2" charset="77"/>
              </a:rPr>
              <a:t>RFRm</a:t>
            </a:r>
            <a:r>
              <a:rPr lang="en-US" altLang="en-US" sz="1400" dirty="0">
                <a:latin typeface="UCL Sans" pitchFamily="2" charset="77"/>
              </a:rPr>
              <a:t>. Are there any suggestions?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UCL Sans" pitchFamily="2" charset="7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latin typeface="UCL Sans" pitchFamily="2" charset="77"/>
              </a:rPr>
              <a:t>3. Is the raw data from NWFP still require some further post-processing with </a:t>
            </a:r>
            <a:r>
              <a:rPr lang="en-US" altLang="en-US" sz="1400" dirty="0" err="1">
                <a:latin typeface="UCL Sans" pitchFamily="2" charset="77"/>
              </a:rPr>
              <a:t>EddyPro</a:t>
            </a:r>
            <a:r>
              <a:rPr lang="en-US" altLang="en-US" sz="1400" dirty="0">
                <a:latin typeface="UCL Sans" pitchFamily="2" charset="77"/>
              </a:rPr>
              <a:t> and Tovi software? </a:t>
            </a:r>
            <a:r>
              <a:rPr lang="en-US" altLang="en-US" sz="1400" dirty="0">
                <a:solidFill>
                  <a:schemeClr val="accent2"/>
                </a:solidFill>
                <a:latin typeface="UCL Sans" pitchFamily="2" charset="77"/>
              </a:rPr>
              <a:t>Not sure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UCL Sans" pitchFamily="2" charset="7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latin typeface="UCL Sans" pitchFamily="2" charset="77"/>
              </a:rPr>
              <a:t>4. Is extrapolation from Tower level measurement to Field level measurement a required process? </a:t>
            </a:r>
            <a:r>
              <a:rPr lang="en-US" altLang="en-US" sz="1400" dirty="0">
                <a:solidFill>
                  <a:schemeClr val="accent2"/>
                </a:solidFill>
                <a:latin typeface="UCL Sans" pitchFamily="2" charset="77"/>
              </a:rPr>
              <a:t>No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UCL Sans" pitchFamily="2" charset="7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latin typeface="UCL Sans" pitchFamily="2" charset="77"/>
              </a:rPr>
              <a:t>5. Utilization of livestock data (Animal location, feed type, and perhaps others) seems beneficial in predicting emissions (though I am still very early in the EDA and It seems data is on daily level at best). Would you have any suggestions to this idea? </a:t>
            </a:r>
            <a:r>
              <a:rPr lang="en-US" altLang="en-US" sz="1400" dirty="0">
                <a:solidFill>
                  <a:schemeClr val="accent2"/>
                </a:solidFill>
                <a:latin typeface="UCL Sans" pitchFamily="2" charset="77"/>
              </a:rPr>
              <a:t>Covered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UCL Sans" pitchFamily="2" charset="7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latin typeface="UCL Sans" pitchFamily="2" charset="77"/>
              </a:rPr>
              <a:t>6. Gap filling methods as suggested by Zhu et al, 2023 has an R</a:t>
            </a:r>
            <a:r>
              <a:rPr lang="en-US" altLang="en-US" sz="1400" baseline="30000" dirty="0">
                <a:latin typeface="UCL Sans" pitchFamily="2" charset="77"/>
              </a:rPr>
              <a:t>2</a:t>
            </a:r>
            <a:r>
              <a:rPr lang="en-US" altLang="en-US" sz="1400" dirty="0">
                <a:latin typeface="UCL Sans" pitchFamily="2" charset="77"/>
              </a:rPr>
              <a:t> score of &lt; 0.1 for all methods in regard to FCH</a:t>
            </a:r>
            <a:r>
              <a:rPr lang="en-US" altLang="en-US" sz="1400" baseline="-25000" dirty="0">
                <a:latin typeface="UCL Sans" pitchFamily="2" charset="77"/>
              </a:rPr>
              <a:t>4</a:t>
            </a:r>
            <a:r>
              <a:rPr lang="en-US" altLang="en-US" sz="1400" dirty="0">
                <a:latin typeface="UCL Sans" pitchFamily="2" charset="77"/>
              </a:rPr>
              <a:t>. Would you have any suggestions?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400" dirty="0">
              <a:latin typeface="UCL Sans" pitchFamily="2" charset="77"/>
            </a:endParaRPr>
          </a:p>
          <a:p>
            <a:pPr marL="577850" marR="0" lvl="0" indent="-30321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à"/>
            </a:pPr>
            <a:r>
              <a:rPr lang="en-US" altLang="en-US" sz="1200" dirty="0">
                <a:latin typeface="UCL Sans" pitchFamily="2" charset="77"/>
                <a:sym typeface="Wingdings" pitchFamily="2" charset="2"/>
              </a:rPr>
              <a:t>(maybe a stupid question), but it seems that truly forecasting FCH</a:t>
            </a:r>
            <a:r>
              <a:rPr lang="en-US" altLang="en-US" sz="1200" baseline="-25000" dirty="0">
                <a:latin typeface="UCL Sans" pitchFamily="2" charset="77"/>
                <a:sym typeface="Wingdings" pitchFamily="2" charset="2"/>
              </a:rPr>
              <a:t>4</a:t>
            </a:r>
            <a:r>
              <a:rPr lang="en-US" altLang="en-US" sz="1200" dirty="0">
                <a:latin typeface="UCL Sans" pitchFamily="2" charset="77"/>
                <a:sym typeface="Wingdings" pitchFamily="2" charset="2"/>
              </a:rPr>
              <a:t> requires first exploring suitable means of gap filling EC data. Could you confirm?</a:t>
            </a:r>
          </a:p>
          <a:p>
            <a:pPr marL="577850" marR="0" lvl="0" indent="-30321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à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UCL Sans" pitchFamily="2" charset="77"/>
              <a:sym typeface="Wingdings" pitchFamily="2" charset="2"/>
            </a:endParaRPr>
          </a:p>
          <a:p>
            <a:pPr marL="79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400" dirty="0">
                <a:latin typeface="UCL Sans" pitchFamily="2" charset="77"/>
                <a:sym typeface="Wingdings" pitchFamily="2" charset="2"/>
              </a:rPr>
              <a:t>7. What would be your recommendation in handling multiple datasets with differing granularity?</a:t>
            </a:r>
          </a:p>
          <a:p>
            <a:pPr marL="79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400" dirty="0">
              <a:latin typeface="UCL Sans" pitchFamily="2" charset="77"/>
              <a:sym typeface="Wingdings" pitchFamily="2" charset="2"/>
            </a:endParaRPr>
          </a:p>
          <a:p>
            <a:pPr marL="274638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200" dirty="0">
                <a:latin typeface="UCL Sans" pitchFamily="2" charset="77"/>
                <a:sym typeface="Wingdings" pitchFamily="2" charset="2"/>
              </a:rPr>
              <a:t> My (current) intended approach : aggregate to hourly (at best) or daily (at worst) </a:t>
            </a:r>
          </a:p>
        </p:txBody>
      </p:sp>
    </p:spTree>
    <p:extLst>
      <p:ext uri="{BB962C8B-B14F-4D97-AF65-F5344CB8AC3E}">
        <p14:creationId xmlns:p14="http://schemas.microsoft.com/office/powerpoint/2010/main" val="1498605848"/>
      </p:ext>
    </p:extLst>
  </p:cSld>
  <p:clrMapOvr>
    <a:masterClrMapping/>
  </p:clrMapOvr>
</p:sld>
</file>

<file path=ppt/theme/theme1.xml><?xml version="1.0" encoding="utf-8"?>
<a:theme xmlns:a="http://schemas.openxmlformats.org/drawingml/2006/main" name="UCL Slides templates - Simple theme">
  <a:themeElements>
    <a:clrScheme name="UCL Colours Theme">
      <a:dk1>
        <a:srgbClr val="000000"/>
      </a:dk1>
      <a:lt1>
        <a:srgbClr val="FAFAFA"/>
      </a:lt1>
      <a:dk2>
        <a:srgbClr val="000000"/>
      </a:dk2>
      <a:lt2>
        <a:srgbClr val="E8E8E8"/>
      </a:lt2>
      <a:accent1>
        <a:srgbClr val="3A1857"/>
      </a:accent1>
      <a:accent2>
        <a:srgbClr val="993AFF"/>
      </a:accent2>
      <a:accent3>
        <a:srgbClr val="B982FF"/>
      </a:accent3>
      <a:accent4>
        <a:srgbClr val="DDBDFF"/>
      </a:accent4>
      <a:accent5>
        <a:srgbClr val="EEDEFF"/>
      </a:accent5>
      <a:accent6>
        <a:srgbClr val="30D6FF"/>
      </a:accent6>
      <a:hlink>
        <a:srgbClr val="3A1857"/>
      </a:hlink>
      <a:folHlink>
        <a:srgbClr val="993A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CL-Powerpoint-Template-UCLSans-UserTest" id="{C27536D9-30EE-8F40-884F-9B8503BB78CC}" vid="{2812A23A-B212-8C47-86B3-DEF37C047B0D}"/>
    </a:ext>
  </a:extLst>
</a:theme>
</file>

<file path=ppt/theme/theme2.xml><?xml version="1.0" encoding="utf-8"?>
<a:theme xmlns:a="http://schemas.openxmlformats.org/drawingml/2006/main" name="UCL Slides templates - Complex design theme">
  <a:themeElements>
    <a:clrScheme name="UCL Colours Theme">
      <a:dk1>
        <a:srgbClr val="000000"/>
      </a:dk1>
      <a:lt1>
        <a:srgbClr val="FAFAFA"/>
      </a:lt1>
      <a:dk2>
        <a:srgbClr val="000000"/>
      </a:dk2>
      <a:lt2>
        <a:srgbClr val="E8E8E8"/>
      </a:lt2>
      <a:accent1>
        <a:srgbClr val="3A1857"/>
      </a:accent1>
      <a:accent2>
        <a:srgbClr val="993AFF"/>
      </a:accent2>
      <a:accent3>
        <a:srgbClr val="B982FF"/>
      </a:accent3>
      <a:accent4>
        <a:srgbClr val="DDBDFF"/>
      </a:accent4>
      <a:accent5>
        <a:srgbClr val="EEDEFF"/>
      </a:accent5>
      <a:accent6>
        <a:srgbClr val="30D6FF"/>
      </a:accent6>
      <a:hlink>
        <a:srgbClr val="3A1857"/>
      </a:hlink>
      <a:folHlink>
        <a:srgbClr val="993A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CL-Powerpoint-Template-UCLSans-UserTest" id="{C27536D9-30EE-8F40-884F-9B8503BB78CC}" vid="{48DDD679-D01D-0E41-9682-843B2A2815E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UCL Slides templates - Simple theme</Template>
  <TotalTime>15239</TotalTime>
  <Words>2028</Words>
  <Application>Microsoft Macintosh PowerPoint</Application>
  <PresentationFormat>Widescreen</PresentationFormat>
  <Paragraphs>159</Paragraphs>
  <Slides>16</Slides>
  <Notes>16</Notes>
  <HiddenSlides>10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UCL Sans</vt:lpstr>
      <vt:lpstr>UCL Sans SemiBold</vt:lpstr>
      <vt:lpstr>Arial</vt:lpstr>
      <vt:lpstr>Aptos</vt:lpstr>
      <vt:lpstr>Wingdings</vt:lpstr>
      <vt:lpstr>UCL Slides templates - Simple theme</vt:lpstr>
      <vt:lpstr>UCL Slides templates - Complex design theme</vt:lpstr>
      <vt:lpstr>Project Update:  Towards Digital Twins for Methane Emissions Forecasting and Scenario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ucypevl-test</dc:creator>
  <cp:keywords/>
  <dc:description/>
  <cp:lastModifiedBy>Nicholas Tobias</cp:lastModifiedBy>
  <cp:revision>428</cp:revision>
  <cp:lastPrinted>2026-03-25T12:05:03Z</cp:lastPrinted>
  <dcterms:created xsi:type="dcterms:W3CDTF">2025-12-03T11:00:22Z</dcterms:created>
  <dcterms:modified xsi:type="dcterms:W3CDTF">2026-06-04T10:08:26Z</dcterms:modified>
  <cp:category/>
</cp:coreProperties>
</file>